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0" r:id="rId1"/>
  </p:sldMasterIdLst>
  <p:notesMasterIdLst>
    <p:notesMasterId r:id="rId7"/>
  </p:notesMasterIdLst>
  <p:sldIdLst>
    <p:sldId id="2122" r:id="rId2"/>
    <p:sldId id="2127" r:id="rId3"/>
    <p:sldId id="2124" r:id="rId4"/>
    <p:sldId id="2125" r:id="rId5"/>
    <p:sldId id="212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70"/>
  </p:normalViewPr>
  <p:slideViewPr>
    <p:cSldViewPr snapToGrid="0">
      <p:cViewPr>
        <p:scale>
          <a:sx n="113" d="100"/>
          <a:sy n="113" d="100"/>
        </p:scale>
        <p:origin x="104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81371-5452-654F-A912-3483CC7B97BE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9DE6B-F0EF-E043-A93E-6BFD3A0A6C6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8590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E100B-7EC3-8496-E11D-D0D1B2988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789A4BE-CA5E-399A-5961-9CBC3DB609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3AFA8E-0651-C93E-FDCA-CE42831F3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DEB1FF-8602-B8AB-BA17-92BA71663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439AB-FDE3-C042-805F-25EE032ACD36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777690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0D8BF-6910-0819-95DF-EA940CCE6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ABEB22-B030-D213-4FE1-B701F81F5F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E006272-B818-3B16-AF6F-19DDB2F965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196AB4-7B4E-79CF-F89C-0C2493A26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439AB-FDE3-C042-805F-25EE032ACD36}" type="slidenum">
              <a:rPr kumimoji="1" lang="ko-Kore-KR" altLang="en-US" smtClean="0"/>
              <a:t>2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26970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3A633-AFA4-60DD-110D-5056D129F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B79968C-1174-4A96-3932-BE0C8210A5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7773F0-1D9C-51EE-F259-A680E3A49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5BFBA5-7B64-1962-1251-DD52729B15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439AB-FDE3-C042-805F-25EE032ACD36}" type="slidenum">
              <a:rPr kumimoji="1" lang="ko-Kore-KR" altLang="en-US" smtClean="0"/>
              <a:t>3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2083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6E22F-124F-267D-E88A-96A6BDD69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91B56F-873D-97D8-2A4E-4CF76CDF2C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E900705-F91F-FE35-931F-B80E4A82F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2FC853-8AC2-76E4-DF6F-A02DCBC7F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439AB-FDE3-C042-805F-25EE032ACD36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34928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C944-B7E0-9523-F38F-12BA260C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28C5D1-858F-DEB5-EBAB-4568B1696F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B2646F-CEAB-063E-CC33-C2E88A228E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9F431B-D8AE-1C79-2596-C92783F47D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E439AB-FDE3-C042-805F-25EE032ACD36}" type="slidenum">
              <a:rPr kumimoji="1" lang="ko-Kore-KR" altLang="en-US" smtClean="0"/>
              <a:t>5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945673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25588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758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72985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97887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구역 머리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55151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43172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4317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27627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519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34086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13991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9441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kumimoji="1"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4569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70234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4202306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24434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897799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942517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917939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03287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842018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2975013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616621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02620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3898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4533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95763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i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261B03B-8BFE-56D7-5A38-20EE71003F5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9725" y="6280712"/>
            <a:ext cx="11110153" cy="440763"/>
          </a:xfrm>
          <a:prstGeom prst="rect">
            <a:avLst/>
          </a:prstGeom>
        </p:spPr>
        <p:txBody>
          <a:bodyPr wrap="square" lIns="90000" tIns="46800" rIns="90000" bIns="46800" anchor="b">
            <a:sp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1000" b="0" i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ore-KR" dirty="0"/>
              <a:t>[1] 1st  reference goes here</a:t>
            </a:r>
          </a:p>
          <a:p>
            <a:pPr lvl="0"/>
            <a:r>
              <a:rPr kumimoji="1" lang="en-US" altLang="ko-Kore-KR" dirty="0"/>
              <a:t>[2] 2nd reference goes here</a:t>
            </a:r>
            <a:endParaRPr kumimoji="1" lang="ko-Kore-KR" alt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0A8EF85-8B57-7F10-CF23-7CA8EA94FD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0406" y="188913"/>
            <a:ext cx="11511189" cy="611187"/>
          </a:xfrm>
          <a:prstGeom prst="rect">
            <a:avLst/>
          </a:prstGeom>
        </p:spPr>
        <p:txBody>
          <a:bodyPr vert="horz" lIns="90000" tIns="0" rIns="90000" bIns="0" rtlCol="0" anchor="ctr">
            <a:noAutofit/>
          </a:bodyPr>
          <a:lstStyle>
            <a:lvl1pPr>
              <a:defRPr kumimoji="1" lang="ko-Kore-KR" altLang="en-US" sz="40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pPr lvl="0"/>
            <a:r>
              <a:rPr kumimoji="1" lang="en-US" altLang="ko-KR" dirty="0"/>
              <a:t>Page title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 Bold, 40pt)</a:t>
            </a:r>
            <a:endParaRPr kumimoji="1" lang="ko-Kore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F40B07-B1CF-FB1E-CCD2-C7F58ABC171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40406" y="908051"/>
            <a:ext cx="11511189" cy="5149849"/>
          </a:xfrm>
          <a:prstGeom prst="rect">
            <a:avLst/>
          </a:prstGeom>
        </p:spPr>
        <p:txBody>
          <a:bodyPr lIns="90000" tIns="46800" rIns="90000" bIns="46800">
            <a:noAutofit/>
          </a:bodyPr>
          <a:lstStyle>
            <a:lvl1pPr>
              <a:lnSpc>
                <a:spcPct val="130000"/>
              </a:lnSpc>
              <a:buClr>
                <a:schemeClr val="tx1"/>
              </a:buClr>
              <a:defRPr sz="2400" b="0" i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20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>
              <a:lnSpc>
                <a:spcPct val="130000"/>
              </a:lnSpc>
              <a:buClr>
                <a:schemeClr val="tx1"/>
              </a:buClr>
              <a:buFont typeface="Arial" panose="020B0604020202020204" pitchFamily="34" charset="0"/>
              <a:buChar char="•"/>
              <a:defRPr sz="1800" b="0" i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</a:lstStyle>
          <a:p>
            <a:pPr lvl="0"/>
            <a:r>
              <a:rPr kumimoji="1" lang="en-US" altLang="ko-KR" dirty="0"/>
              <a:t>1st level (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, 24pt)</a:t>
            </a:r>
            <a:endParaRPr kumimoji="1" lang="ko-KR" altLang="en-US" dirty="0"/>
          </a:p>
          <a:p>
            <a:pPr lvl="1"/>
            <a:r>
              <a:rPr kumimoji="1" lang="en-US" altLang="ko-KR" dirty="0"/>
              <a:t>2nd level (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, 20pt)</a:t>
            </a:r>
            <a:endParaRPr kumimoji="1" lang="ko-KR" altLang="en-US" dirty="0"/>
          </a:p>
          <a:p>
            <a:pPr lvl="2"/>
            <a:r>
              <a:rPr kumimoji="1" lang="en-US" altLang="ko-KR" dirty="0"/>
              <a:t>3rd level (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, 18pt)</a:t>
            </a:r>
            <a:endParaRPr kumimoji="1" lang="ko-KR" altLang="en-US" dirty="0"/>
          </a:p>
          <a:p>
            <a:pPr lvl="3"/>
            <a:r>
              <a:rPr kumimoji="1" lang="en-US" altLang="ko-KR" dirty="0"/>
              <a:t>4th level (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, 18pt)</a:t>
            </a:r>
            <a:endParaRPr kumimoji="1" lang="ko-KR" altLang="en-US" dirty="0"/>
          </a:p>
          <a:p>
            <a:pPr lvl="4"/>
            <a:r>
              <a:rPr kumimoji="1" lang="en-US" altLang="ko-KR" dirty="0"/>
              <a:t>5th level (</a:t>
            </a:r>
            <a:r>
              <a:rPr kumimoji="1" lang="en-US" altLang="ko-KR" dirty="0" err="1"/>
              <a:t>Pretendard</a:t>
            </a:r>
            <a:r>
              <a:rPr kumimoji="1" lang="en-US" altLang="ko-KR" dirty="0"/>
              <a:t>, 18pt)</a:t>
            </a:r>
            <a:endParaRPr kumimoji="1" lang="ko-Kore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A01A02-F45E-AECF-B0E2-E4192BB1C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23964" y="6488461"/>
            <a:ext cx="327631" cy="233014"/>
          </a:xfrm>
          <a:prstGeom prst="rect">
            <a:avLst/>
          </a:prstGeom>
        </p:spPr>
        <p:txBody>
          <a:bodyPr vert="horz" wrap="none" lIns="90000" tIns="46800" rIns="90000" bIns="46800" rtlCol="0" anchor="b">
            <a:spAutoFit/>
          </a:bodyPr>
          <a:lstStyle>
            <a:lvl1pPr>
              <a:defRPr kumimoji="1" lang="ko-Kore-KR" altLang="en-US" smtClean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fld id="{F0154D53-74C0-1C42-8213-EAF819EDF897}" type="slidenum">
              <a:rPr lang="en-US" altLang="ko-Kore-KR" smtClean="0"/>
              <a:pPr/>
              <a:t>‹#›</a:t>
            </a:fld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8C7D26-61A9-16C8-9418-8929555932B1}"/>
              </a:ext>
            </a:extLst>
          </p:cNvPr>
          <p:cNvSpPr/>
          <p:nvPr userDrawn="1"/>
        </p:nvSpPr>
        <p:spPr>
          <a:xfrm>
            <a:off x="0" y="-440764"/>
            <a:ext cx="360000" cy="360000"/>
          </a:xfrm>
          <a:prstGeom prst="ellipse">
            <a:avLst/>
          </a:prstGeom>
          <a:solidFill>
            <a:srgbClr val="C801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kumimoji="1" lang="ko-Kore-KR" altLang="en-US" sz="11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직사각형 5">
            <a:extLst>
              <a:ext uri="{FF2B5EF4-FFF2-40B4-BE49-F238E27FC236}">
                <a16:creationId xmlns:a16="http://schemas.microsoft.com/office/drawing/2014/main" id="{D67A81B3-6424-5EB4-2E8C-4C9B2CCBA1D7}"/>
              </a:ext>
            </a:extLst>
          </p:cNvPr>
          <p:cNvSpPr/>
          <p:nvPr userDrawn="1"/>
        </p:nvSpPr>
        <p:spPr>
          <a:xfrm>
            <a:off x="439554" y="-440764"/>
            <a:ext cx="360000" cy="360000"/>
          </a:xfrm>
          <a:prstGeom prst="ellipse">
            <a:avLst/>
          </a:prstGeom>
          <a:solidFill>
            <a:srgbClr val="00419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endParaRPr kumimoji="1" lang="ko-Kore-KR" altLang="en-US" sz="1100" dirty="0">
              <a:solidFill>
                <a:schemeClr val="bg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97BDDA-EC28-BE84-7B2B-020622D917C1}"/>
              </a:ext>
            </a:extLst>
          </p:cNvPr>
          <p:cNvSpPr/>
          <p:nvPr userDrawn="1"/>
        </p:nvSpPr>
        <p:spPr>
          <a:xfrm>
            <a:off x="4182537" y="-440764"/>
            <a:ext cx="360000" cy="3600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ore-KR" altLang="en-US" sz="24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0EC372A-44A3-373D-B8BE-60EDE1DFCD26}"/>
              </a:ext>
            </a:extLst>
          </p:cNvPr>
          <p:cNvSpPr/>
          <p:nvPr userDrawn="1"/>
        </p:nvSpPr>
        <p:spPr>
          <a:xfrm>
            <a:off x="3752973" y="-440764"/>
            <a:ext cx="360000" cy="36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ore-KR" altLang="en-US" sz="24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23F4AB-CF0D-3F89-B6B7-44BAFB2F9DF9}"/>
              </a:ext>
            </a:extLst>
          </p:cNvPr>
          <p:cNvSpPr/>
          <p:nvPr userDrawn="1"/>
        </p:nvSpPr>
        <p:spPr>
          <a:xfrm>
            <a:off x="3323411" y="-440764"/>
            <a:ext cx="360000" cy="36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ore-KR" altLang="en-US" sz="24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0" name="직사각형 10">
            <a:extLst>
              <a:ext uri="{FF2B5EF4-FFF2-40B4-BE49-F238E27FC236}">
                <a16:creationId xmlns:a16="http://schemas.microsoft.com/office/drawing/2014/main" id="{7F3B0C93-9394-F187-7719-203C25CF6F3A}"/>
              </a:ext>
            </a:extLst>
          </p:cNvPr>
          <p:cNvSpPr/>
          <p:nvPr userDrawn="1"/>
        </p:nvSpPr>
        <p:spPr>
          <a:xfrm>
            <a:off x="2893849" y="-440764"/>
            <a:ext cx="360000" cy="36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ore-KR" altLang="en-US" sz="24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1" name="직사각형 11">
            <a:extLst>
              <a:ext uri="{FF2B5EF4-FFF2-40B4-BE49-F238E27FC236}">
                <a16:creationId xmlns:a16="http://schemas.microsoft.com/office/drawing/2014/main" id="{6C68AB85-298D-B13C-92D9-1EF975CDB31D}"/>
              </a:ext>
            </a:extLst>
          </p:cNvPr>
          <p:cNvSpPr/>
          <p:nvPr userDrawn="1"/>
        </p:nvSpPr>
        <p:spPr>
          <a:xfrm>
            <a:off x="2464287" y="-440764"/>
            <a:ext cx="360000" cy="36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ore-KR" altLang="en-US" sz="24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" name="직사각형 12">
            <a:extLst>
              <a:ext uri="{FF2B5EF4-FFF2-40B4-BE49-F238E27FC236}">
                <a16:creationId xmlns:a16="http://schemas.microsoft.com/office/drawing/2014/main" id="{739A642D-6409-6785-91FB-3FC229A18EF2}"/>
              </a:ext>
            </a:extLst>
          </p:cNvPr>
          <p:cNvSpPr/>
          <p:nvPr userDrawn="1"/>
        </p:nvSpPr>
        <p:spPr>
          <a:xfrm>
            <a:off x="2034725" y="-440764"/>
            <a:ext cx="360000" cy="360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ore-KR" altLang="en-US" sz="24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E16BDFE-26CD-80FD-BAF7-14C171988125}"/>
              </a:ext>
            </a:extLst>
          </p:cNvPr>
          <p:cNvSpPr/>
          <p:nvPr userDrawn="1"/>
        </p:nvSpPr>
        <p:spPr>
          <a:xfrm>
            <a:off x="1605163" y="-440764"/>
            <a:ext cx="360000" cy="3600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ore-KR" altLang="en-US" sz="24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F37B08-EE61-769E-D016-954F6AC8CEA5}"/>
              </a:ext>
            </a:extLst>
          </p:cNvPr>
          <p:cNvSpPr/>
          <p:nvPr userDrawn="1"/>
        </p:nvSpPr>
        <p:spPr>
          <a:xfrm>
            <a:off x="1175601" y="-440764"/>
            <a:ext cx="360000" cy="36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ko-Kore-KR" altLang="en-US" sz="24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8106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119">
          <p15:clr>
            <a:srgbClr val="FBAE40"/>
          </p15:clr>
        </p15:guide>
        <p15:guide id="6" orient="horz" pos="504">
          <p15:clr>
            <a:srgbClr val="FBAE40"/>
          </p15:clr>
        </p15:guide>
        <p15:guide id="7" orient="horz" pos="572">
          <p15:clr>
            <a:srgbClr val="FBAE40"/>
          </p15:clr>
        </p15:guide>
        <p15:guide id="8" orient="horz" pos="3952">
          <p15:clr>
            <a:srgbClr val="FBAE40"/>
          </p15:clr>
        </p15:guide>
        <p15:guide id="9" orient="horz" pos="381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F2347739-5941-4C4C-A246-BE2840D28335}" type="datetimeFigureOut">
              <a:rPr kumimoji="1" lang="ko-KR" altLang="en-US" smtClean="0"/>
              <a:t>2026. 9. 4.</a:t>
            </a:fld>
            <a:endParaRPr kumimoji="1"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11F9EF9-833C-2E41-AB4A-D0705A696137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0248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  <p:sldLayoutId id="2147483802" r:id="rId12"/>
    <p:sldLayoutId id="2147483803" r:id="rId13"/>
    <p:sldLayoutId id="2147483804" r:id="rId14"/>
    <p:sldLayoutId id="2147483805" r:id="rId15"/>
    <p:sldLayoutId id="2147483806" r:id="rId16"/>
    <p:sldLayoutId id="2147483807" r:id="rId17"/>
    <p:sldLayoutId id="2147483808" r:id="rId18"/>
    <p:sldLayoutId id="2147483809" r:id="rId19"/>
    <p:sldLayoutId id="2147483810" r:id="rId20"/>
    <p:sldLayoutId id="2147483811" r:id="rId21"/>
    <p:sldLayoutId id="2147483812" r:id="rId22"/>
    <p:sldLayoutId id="2147483813" r:id="rId23"/>
    <p:sldLayoutId id="2147483814" r:id="rId24"/>
    <p:sldLayoutId id="2147483815" r:id="rId25"/>
    <p:sldLayoutId id="2147483816" r:id="rId26"/>
    <p:sldLayoutId id="2147483817" r:id="rId27"/>
    <p:sldLayoutId id="2147483818" r:id="rId28"/>
  </p:sldLayoutIdLst>
  <p:txStyles>
    <p:titleStyle>
      <a:lvl1pPr algn="l" defTabSz="914400" rtl="0" eaLnBrk="1" latinLnBrk="1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microsoft.com/office/2007/relationships/media" Target="../media/media1.mp4"/><Relationship Id="rId7" Type="http://schemas.openxmlformats.org/officeDocument/2006/relationships/slideLayout" Target="../slideLayouts/slideLayout28.xml"/><Relationship Id="rId12" Type="http://schemas.openxmlformats.org/officeDocument/2006/relationships/image" Target="../media/image10.png"/><Relationship Id="rId2" Type="http://schemas.openxmlformats.org/officeDocument/2006/relationships/video" Target="NULL" TargetMode="External"/><Relationship Id="rId1" Type="http://schemas.openxmlformats.org/officeDocument/2006/relationships/tags" Target="../tags/tag1.xml"/><Relationship Id="rId6" Type="http://schemas.openxmlformats.org/officeDocument/2006/relationships/audio" Target="../media/media3.m4a"/><Relationship Id="rId11" Type="http://schemas.openxmlformats.org/officeDocument/2006/relationships/image" Target="../media/image9.png"/><Relationship Id="rId5" Type="http://schemas.microsoft.com/office/2007/relationships/media" Target="../media/media3.m4a"/><Relationship Id="rId10" Type="http://schemas.openxmlformats.org/officeDocument/2006/relationships/image" Target="../media/image8.png"/><Relationship Id="rId4" Type="http://schemas.microsoft.com/office/2007/relationships/media" Target="../media/media2.mp4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audio" Target="../media/media4.m4a"/><Relationship Id="rId7" Type="http://schemas.openxmlformats.org/officeDocument/2006/relationships/image" Target="../media/image12.png"/><Relationship Id="rId2" Type="http://schemas.microsoft.com/office/2007/relationships/media" Target="../media/media4.m4a"/><Relationship Id="rId1" Type="http://schemas.openxmlformats.org/officeDocument/2006/relationships/tags" Target="../tags/tag2.xml"/><Relationship Id="rId6" Type="http://schemas.openxmlformats.org/officeDocument/2006/relationships/image" Target="../media/image11.pn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audio" Target="../media/media5.m4a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2" Type="http://schemas.microsoft.com/office/2007/relationships/media" Target="../media/media5.m4a"/><Relationship Id="rId1" Type="http://schemas.openxmlformats.org/officeDocument/2006/relationships/tags" Target="../tags/tag3.xml"/><Relationship Id="rId6" Type="http://schemas.openxmlformats.org/officeDocument/2006/relationships/image" Target="../media/image12.png"/><Relationship Id="rId11" Type="http://schemas.openxmlformats.org/officeDocument/2006/relationships/image" Target="../media/image11.png"/><Relationship Id="rId5" Type="http://schemas.openxmlformats.org/officeDocument/2006/relationships/notesSlide" Target="../notesSlides/notesSlide3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audio" Target="../media/media6.m4a"/><Relationship Id="rId7" Type="http://schemas.openxmlformats.org/officeDocument/2006/relationships/image" Target="../media/image13.png"/><Relationship Id="rId12" Type="http://schemas.openxmlformats.org/officeDocument/2006/relationships/image" Target="../media/image10.png"/><Relationship Id="rId2" Type="http://schemas.microsoft.com/office/2007/relationships/media" Target="../media/media6.m4a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11" Type="http://schemas.openxmlformats.org/officeDocument/2006/relationships/image" Target="../media/image11.png"/><Relationship Id="rId5" Type="http://schemas.openxmlformats.org/officeDocument/2006/relationships/notesSlide" Target="../notesSlides/notesSlide4.xml"/><Relationship Id="rId10" Type="http://schemas.openxmlformats.org/officeDocument/2006/relationships/image" Target="../media/image16.png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audio" Target="../media/media7.m4a"/><Relationship Id="rId7" Type="http://schemas.openxmlformats.org/officeDocument/2006/relationships/image" Target="../media/image17.jpg"/><Relationship Id="rId2" Type="http://schemas.microsoft.com/office/2007/relationships/media" Target="../media/media7.m4a"/><Relationship Id="rId1" Type="http://schemas.openxmlformats.org/officeDocument/2006/relationships/tags" Target="../tags/tag5.xml"/><Relationship Id="rId6" Type="http://schemas.openxmlformats.org/officeDocument/2006/relationships/image" Target="../media/image12.png"/><Relationship Id="rId5" Type="http://schemas.openxmlformats.org/officeDocument/2006/relationships/notesSlide" Target="../notesSlides/notesSlide5.xml"/><Relationship Id="rId10" Type="http://schemas.openxmlformats.org/officeDocument/2006/relationships/image" Target="../media/image10.png"/><Relationship Id="rId4" Type="http://schemas.openxmlformats.org/officeDocument/2006/relationships/slideLayout" Target="../slideLayouts/slideLayout28.xml"/><Relationship Id="rId9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6498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092E8-40B0-1CA2-C2BB-A5A0BEFE9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33">
            <a:extLst>
              <a:ext uri="{FF2B5EF4-FFF2-40B4-BE49-F238E27FC236}">
                <a16:creationId xmlns:a16="http://schemas.microsoft.com/office/drawing/2014/main" id="{89F21351-58D4-D19B-3688-1CD9A237F060}"/>
              </a:ext>
            </a:extLst>
          </p:cNvPr>
          <p:cNvSpPr txBox="1"/>
          <p:nvPr/>
        </p:nvSpPr>
        <p:spPr>
          <a:xfrm>
            <a:off x="1045224" y="5975878"/>
            <a:ext cx="1931464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ore-KR" sz="2400" dirty="0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36613DF-BACC-6DC5-BEEE-EE755C252883}"/>
              </a:ext>
            </a:extLst>
          </p:cNvPr>
          <p:cNvSpPr txBox="1"/>
          <p:nvPr/>
        </p:nvSpPr>
        <p:spPr>
          <a:xfrm>
            <a:off x="4612118" y="5975878"/>
            <a:ext cx="2832297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ore-KR" sz="2400" dirty="0">
                <a:latin typeface="Calibri" panose="020F0502020204030204" pitchFamily="34" charset="0"/>
                <a:cs typeface="Calibri" panose="020F0502020204030204" pitchFamily="34" charset="0"/>
              </a:rPr>
              <a:t>SEVA (baseline)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3E3B44-B92C-0FB9-6A81-8ADD588F8098}"/>
              </a:ext>
            </a:extLst>
          </p:cNvPr>
          <p:cNvSpPr txBox="1"/>
          <p:nvPr/>
        </p:nvSpPr>
        <p:spPr>
          <a:xfrm>
            <a:off x="8032250" y="5975878"/>
            <a:ext cx="4056984" cy="478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ko-Kore-KR" sz="2400" dirty="0">
                <a:latin typeface="Calibri" panose="020F0502020204030204" pitchFamily="34" charset="0"/>
                <a:cs typeface="Calibri" panose="020F0502020204030204" pitchFamily="34" charset="0"/>
              </a:rPr>
              <a:t>Ours </a:t>
            </a:r>
          </a:p>
        </p:txBody>
      </p:sp>
      <p:pic>
        <p:nvPicPr>
          <p:cNvPr id="37" name="그림 36" descr="실내, 욕실, 벽, 욕실 액세서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8987BA1-8442-C0D6-87B1-BBBE4EEC7F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8452" y="1332089"/>
            <a:ext cx="3878193" cy="4740013"/>
          </a:xfrm>
          <a:prstGeom prst="rect">
            <a:avLst/>
          </a:prstGeom>
        </p:spPr>
      </p:pic>
      <p:pic>
        <p:nvPicPr>
          <p:cNvPr id="38" name="msd8_ours">
            <a:hlinkClick r:id="" action="ppaction://media"/>
            <a:extLst>
              <a:ext uri="{FF2B5EF4-FFF2-40B4-BE49-F238E27FC236}">
                <a16:creationId xmlns:a16="http://schemas.microsoft.com/office/drawing/2014/main" id="{92856613-FA67-1BD3-3A37-A539FBFAA05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>
                  <p14:trim end="4895.6212"/>
                </p14:media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8121396" y="1332089"/>
            <a:ext cx="3878692" cy="4740013"/>
          </a:xfrm>
          <a:prstGeom prst="rect">
            <a:avLst/>
          </a:prstGeom>
        </p:spPr>
      </p:pic>
      <p:pic>
        <p:nvPicPr>
          <p:cNvPr id="39" name="msd8_seva">
            <a:hlinkClick r:id="" action="ppaction://media"/>
            <a:extLst>
              <a:ext uri="{FF2B5EF4-FFF2-40B4-BE49-F238E27FC236}">
                <a16:creationId xmlns:a16="http://schemas.microsoft.com/office/drawing/2014/main" id="{A6081B34-0D26-7D4F-E499-EBF2C125A56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4">
                  <p14:trim end="4894.7938"/>
                </p14:media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4159674" y="1332089"/>
            <a:ext cx="3878692" cy="4740013"/>
          </a:xfrm>
          <a:prstGeom prst="rect">
            <a:avLst/>
          </a:prstGeom>
        </p:spPr>
      </p:pic>
      <p:sp>
        <p:nvSpPr>
          <p:cNvPr id="40" name="내용 개체 틀 9">
            <a:extLst>
              <a:ext uri="{FF2B5EF4-FFF2-40B4-BE49-F238E27FC236}">
                <a16:creationId xmlns:a16="http://schemas.microsoft.com/office/drawing/2014/main" id="{C654009E-5FF0-3B2E-B3C7-D2D2B4D2E8A8}"/>
              </a:ext>
            </a:extLst>
          </p:cNvPr>
          <p:cNvSpPr txBox="1">
            <a:spLocks/>
          </p:cNvSpPr>
          <p:nvPr/>
        </p:nvSpPr>
        <p:spPr>
          <a:xfrm>
            <a:off x="340406" y="310292"/>
            <a:ext cx="11511189" cy="51498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ko-KR" sz="2800" dirty="0">
              <a:latin typeface="Trebuchet MS" panose="020B0703020202090204" pitchFamily="34" charset="0"/>
            </a:endParaRPr>
          </a:p>
          <a:p>
            <a:pPr lvl="1">
              <a:buFont typeface="Wingdings" pitchFamily="2" charset="2"/>
              <a:buChar char="è"/>
            </a:pPr>
            <a:endParaRPr lang="en-US" altLang="ko-KR" sz="2400" dirty="0">
              <a:latin typeface="Trebuchet MS" panose="020B0703020202090204" pitchFamily="34" charset="0"/>
            </a:endParaRPr>
          </a:p>
          <a:p>
            <a:pPr lvl="1">
              <a:buFont typeface="Wingdings" pitchFamily="2" charset="2"/>
              <a:buChar char="è"/>
            </a:pPr>
            <a:endParaRPr lang="en-US" altLang="ko-KR" sz="2400" dirty="0">
              <a:latin typeface="Trebuchet MS" panose="020B0703020202090204" pitchFamily="34" charset="0"/>
            </a:endParaRPr>
          </a:p>
          <a:p>
            <a:pPr lvl="1">
              <a:buFont typeface="Wingdings" pitchFamily="2" charset="2"/>
              <a:buChar char="è"/>
            </a:pPr>
            <a:endParaRPr lang="en-US" altLang="ko-KR" sz="2400" dirty="0">
              <a:latin typeface="Trebuchet MS" panose="020B0703020202090204" pitchFamily="34" charset="0"/>
            </a:endParaRPr>
          </a:p>
          <a:p>
            <a:pPr marL="457200" lvl="1" indent="0">
              <a:buNone/>
            </a:pPr>
            <a:endParaRPr lang="en-US" altLang="ko-KR" sz="2400" dirty="0">
              <a:latin typeface="Trebuchet MS" panose="020B0703020202090204" pitchFamily="34" charset="0"/>
            </a:endParaRPr>
          </a:p>
          <a:p>
            <a:endParaRPr lang="ko-KR" altLang="en-US" sz="2800" dirty="0">
              <a:latin typeface="Trebuchet MS" panose="020B0703020202090204" pitchFamily="34" charset="0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CAFF86A5-015E-46B2-8E2B-9FA8855B7958}"/>
              </a:ext>
            </a:extLst>
          </p:cNvPr>
          <p:cNvGrpSpPr/>
          <p:nvPr/>
        </p:nvGrpSpPr>
        <p:grpSpPr>
          <a:xfrm>
            <a:off x="1693333" y="1447140"/>
            <a:ext cx="10241291" cy="4354029"/>
            <a:chOff x="1693333" y="1309511"/>
            <a:chExt cx="10241291" cy="4354029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513D117C-5DA1-613A-6A0F-6CF1DCB0004D}"/>
                </a:ext>
              </a:extLst>
            </p:cNvPr>
            <p:cNvSpPr/>
            <p:nvPr/>
          </p:nvSpPr>
          <p:spPr>
            <a:xfrm>
              <a:off x="1693333" y="1883287"/>
              <a:ext cx="1185334" cy="3377335"/>
            </a:xfrm>
            <a:prstGeom prst="rect">
              <a:avLst/>
            </a:prstGeom>
            <a:noFill/>
            <a:ln w="38100">
              <a:solidFill>
                <a:srgbClr val="00FF0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>
                <a:solidFill>
                  <a:srgbClr val="00FF0F"/>
                </a:solidFill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13CF7379-CDD4-C3BA-F333-985626E07B59}"/>
                </a:ext>
              </a:extLst>
            </p:cNvPr>
            <p:cNvSpPr/>
            <p:nvPr/>
          </p:nvSpPr>
          <p:spPr>
            <a:xfrm>
              <a:off x="8647289" y="1309511"/>
              <a:ext cx="3287335" cy="4354029"/>
            </a:xfrm>
            <a:prstGeom prst="rect">
              <a:avLst/>
            </a:prstGeom>
            <a:noFill/>
            <a:ln w="38100">
              <a:solidFill>
                <a:srgbClr val="00FF0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>
                <a:solidFill>
                  <a:srgbClr val="00FF0F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3AF42244-76DF-8303-8271-43AFCEA75278}"/>
                </a:ext>
              </a:extLst>
            </p:cNvPr>
            <p:cNvSpPr/>
            <p:nvPr/>
          </p:nvSpPr>
          <p:spPr>
            <a:xfrm>
              <a:off x="4696178" y="1309511"/>
              <a:ext cx="3264758" cy="4354029"/>
            </a:xfrm>
            <a:prstGeom prst="rect">
              <a:avLst/>
            </a:prstGeom>
            <a:noFill/>
            <a:ln w="38100">
              <a:solidFill>
                <a:srgbClr val="00FF0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>
                <a:solidFill>
                  <a:srgbClr val="00FF0F"/>
                </a:solidFill>
              </a:endParaRPr>
            </a:p>
          </p:txBody>
        </p:sp>
      </p:grpSp>
      <p:pic>
        <p:nvPicPr>
          <p:cNvPr id="47" name="오디오 46">
            <a:extLst>
              <a:ext uri="{FF2B5EF4-FFF2-40B4-BE49-F238E27FC236}">
                <a16:creationId xmlns:a16="http://schemas.microsoft.com/office/drawing/2014/main" id="{B708F41C-EFF9-31FB-DDBD-FDA18F190FE2}"/>
              </a:ext>
            </a:extLst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  <p:sp>
        <p:nvSpPr>
          <p:cNvPr id="63" name="내용 개체 틀 9">
            <a:extLst>
              <a:ext uri="{FF2B5EF4-FFF2-40B4-BE49-F238E27FC236}">
                <a16:creationId xmlns:a16="http://schemas.microsoft.com/office/drawing/2014/main" id="{DD1329BA-F4B9-32CC-43CF-8DEE1944FE5B}"/>
              </a:ext>
            </a:extLst>
          </p:cNvPr>
          <p:cNvSpPr txBox="1">
            <a:spLocks/>
          </p:cNvSpPr>
          <p:nvPr/>
        </p:nvSpPr>
        <p:spPr>
          <a:xfrm>
            <a:off x="340406" y="310292"/>
            <a:ext cx="11511189" cy="51498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2800" dirty="0">
                <a:latin typeface="Trebuchet MS" panose="020B0703020202090204" pitchFamily="34" charset="0"/>
              </a:rPr>
              <a:t>Task: Generative Novel View Synthesis with </a:t>
            </a:r>
            <a:r>
              <a:rPr lang="en-US" altLang="ko-KR" sz="2800" dirty="0">
                <a:solidFill>
                  <a:schemeClr val="accent6">
                    <a:lumMod val="75000"/>
                  </a:schemeClr>
                </a:solidFill>
                <a:latin typeface="Trebuchet MS" panose="020B0703020202090204" pitchFamily="34" charset="0"/>
              </a:rPr>
              <a:t>Reflections</a:t>
            </a:r>
          </a:p>
          <a:p>
            <a:pPr marL="0" indent="0">
              <a:buNone/>
            </a:pPr>
            <a:endParaRPr lang="en-US" altLang="ko-KR" sz="2800" dirty="0">
              <a:latin typeface="Trebuchet MS" panose="020B0703020202090204" pitchFamily="34" charset="0"/>
            </a:endParaRPr>
          </a:p>
          <a:p>
            <a:pPr marL="0" indent="0">
              <a:buNone/>
            </a:pPr>
            <a:endParaRPr lang="en-US" altLang="ko-KR" sz="2800" dirty="0">
              <a:latin typeface="Trebuchet MS" panose="020B0703020202090204" pitchFamily="34" charset="0"/>
            </a:endParaRPr>
          </a:p>
          <a:p>
            <a:pPr lvl="1">
              <a:buFont typeface="Wingdings" pitchFamily="2" charset="2"/>
              <a:buChar char="è"/>
            </a:pPr>
            <a:endParaRPr lang="en-US" altLang="ko-KR" sz="2400" dirty="0">
              <a:latin typeface="Trebuchet MS" panose="020B0703020202090204" pitchFamily="34" charset="0"/>
            </a:endParaRPr>
          </a:p>
          <a:p>
            <a:pPr lvl="1">
              <a:buFont typeface="Wingdings" pitchFamily="2" charset="2"/>
              <a:buChar char="è"/>
            </a:pPr>
            <a:endParaRPr lang="en-US" altLang="ko-KR" sz="2400" dirty="0">
              <a:latin typeface="Trebuchet MS" panose="020B0703020202090204" pitchFamily="34" charset="0"/>
            </a:endParaRPr>
          </a:p>
          <a:p>
            <a:pPr lvl="1">
              <a:buFont typeface="Wingdings" pitchFamily="2" charset="2"/>
              <a:buChar char="è"/>
            </a:pPr>
            <a:endParaRPr lang="en-US" altLang="ko-KR" sz="2400" dirty="0">
              <a:latin typeface="Trebuchet MS" panose="020B0703020202090204" pitchFamily="34" charset="0"/>
            </a:endParaRPr>
          </a:p>
          <a:p>
            <a:pPr marL="457200" lvl="1" indent="0">
              <a:buNone/>
            </a:pPr>
            <a:endParaRPr lang="en-US" altLang="ko-KR" sz="2400" dirty="0">
              <a:latin typeface="Trebuchet MS" panose="020B0703020202090204" pitchFamily="34" charset="0"/>
            </a:endParaRPr>
          </a:p>
          <a:p>
            <a:endParaRPr lang="ko-KR" altLang="en-US" sz="2800" dirty="0">
              <a:latin typeface="Trebuchet MS" panose="020B070302020209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9610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0517"/>
    </mc:Choice>
    <mc:Fallback>
      <p:transition advTm="1051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104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105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9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3" dur="1" fill="hold"/>
                                        <p:tgtEl>
                                          <p:spTgt spid="3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24" restart="whenNotActive" fill="hold" evtFilter="cancelBubble" nodeType="interactiveSeq">
                <p:stCondLst>
                  <p:cond evt="onClick" delay="0">
                    <p:tgtEl>
                      <p:spTgt spid="3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" fill="hold">
                      <p:stCondLst>
                        <p:cond delay="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8" dur="1" fill="hold"/>
                                        <p:tgtEl>
                                          <p:spTgt spid="3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9"/>
                  </p:tgtEl>
                </p:cond>
              </p:nextCondLst>
            </p:seq>
            <p:video>
              <p:cMediaNode vol="80000">
                <p:cTn id="29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  <p:video>
              <p:cMediaNode vol="80000">
                <p:cTn id="30" fill="hold" display="0">
                  <p:stCondLst>
                    <p:cond delay="indefinite"/>
                  </p:stCondLst>
                </p:cTn>
                <p:tgtEl>
                  <p:spTgt spid="39"/>
                </p:tgtEl>
              </p:cMediaNode>
            </p:video>
            <p:audio isNarration="1">
              <p:cMediaNode vol="80000" showWhenStopped="0">
                <p:cTn id="3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7"/>
                </p:tgtEl>
              </p:cMediaNode>
            </p:audio>
          </p:childTnLst>
        </p:cTn>
      </p:par>
    </p:tnLst>
  </p:timing>
  <p:extLst>
    <p:ext uri="{E180D4A7-C9FB-4DFB-919C-405C955672EB}">
      <p14:showEvtLst xmlns:p14="http://schemas.microsoft.com/office/powerpoint/2010/main">
        <p14:playEvt time="1718" objId="38"/>
        <p14:playEvt time="1720" objId="39"/>
        <p14:stopEvt time="10436" objId="38"/>
        <p14:stopEvt time="10436" objId="39"/>
      </p14:showEvt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6498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00CEC-015C-7930-79F5-67979E70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내용 개체 틀 9">
            <a:extLst>
              <a:ext uri="{FF2B5EF4-FFF2-40B4-BE49-F238E27FC236}">
                <a16:creationId xmlns:a16="http://schemas.microsoft.com/office/drawing/2014/main" id="{E368181B-E325-AB81-48F3-31EA6018EC0B}"/>
              </a:ext>
            </a:extLst>
          </p:cNvPr>
          <p:cNvSpPr txBox="1">
            <a:spLocks/>
          </p:cNvSpPr>
          <p:nvPr/>
        </p:nvSpPr>
        <p:spPr>
          <a:xfrm>
            <a:off x="340406" y="310292"/>
            <a:ext cx="11511189" cy="51498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latin typeface="Chalkboard SE" panose="03050602040202020205" pitchFamily="66" charset="0"/>
              </a:rPr>
              <a:t>      Given input image, can you imagine the rest of the scene?</a:t>
            </a:r>
          </a:p>
          <a:p>
            <a:pPr marL="0" indent="0">
              <a:buNone/>
            </a:pPr>
            <a:endParaRPr lang="en-US" altLang="ko-KR" sz="100" dirty="0">
              <a:latin typeface="Chalkboard SE" panose="03050602040202020205" pitchFamily="66" charset="0"/>
            </a:endParaRPr>
          </a:p>
          <a:p>
            <a:pPr marL="0" indent="0">
              <a:buNone/>
            </a:pPr>
            <a:r>
              <a:rPr lang="ko-KR" altLang="en-US" dirty="0">
                <a:latin typeface="Chalkboard SE" panose="03050602040202020205" pitchFamily="66" charset="0"/>
              </a:rPr>
              <a:t>      </a:t>
            </a:r>
            <a:r>
              <a:rPr lang="en-US" altLang="ko-KR" dirty="0">
                <a:latin typeface="Chalkboard SE" panose="03050602040202020205" pitchFamily="66" charset="0"/>
              </a:rPr>
              <a:t>There should be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a window,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a drawer, paintings on the wall, … </a:t>
            </a:r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pic>
        <p:nvPicPr>
          <p:cNvPr id="69" name="그림 68">
            <a:extLst>
              <a:ext uri="{FF2B5EF4-FFF2-40B4-BE49-F238E27FC236}">
                <a16:creationId xmlns:a16="http://schemas.microsoft.com/office/drawing/2014/main" id="{B47D7C2C-D42C-C480-B2D2-5A5DA2AC2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817" y="1066661"/>
            <a:ext cx="611187" cy="611187"/>
          </a:xfrm>
          <a:prstGeom prst="rect">
            <a:avLst/>
          </a:prstGeom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A265FE55-DBD0-DE22-40D8-2815EAD2D7FF}"/>
              </a:ext>
            </a:extLst>
          </p:cNvPr>
          <p:cNvGrpSpPr/>
          <p:nvPr/>
        </p:nvGrpSpPr>
        <p:grpSpPr>
          <a:xfrm>
            <a:off x="619765" y="2122939"/>
            <a:ext cx="2253702" cy="3077509"/>
            <a:chOff x="1525818" y="2058778"/>
            <a:chExt cx="2705771" cy="3694825"/>
          </a:xfrm>
        </p:grpSpPr>
        <p:pic>
          <p:nvPicPr>
            <p:cNvPr id="109" name="그림 108" descr="벽, 실내, 꽃병, 실내용 화초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7F36A4F-B006-88BA-AF6C-FCAB8BA7247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1525818" y="2058778"/>
              <a:ext cx="2705771" cy="2740443"/>
            </a:xfrm>
            <a:prstGeom prst="rect">
              <a:avLst/>
            </a:prstGeom>
          </p:spPr>
        </p:pic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9F7AC4FE-F326-D4F4-4685-781F722E83B6}"/>
                </a:ext>
              </a:extLst>
            </p:cNvPr>
            <p:cNvGrpSpPr/>
            <p:nvPr/>
          </p:nvGrpSpPr>
          <p:grpSpPr>
            <a:xfrm flipH="1">
              <a:off x="1525818" y="5026610"/>
              <a:ext cx="2705771" cy="726993"/>
              <a:chOff x="4374566" y="5086449"/>
              <a:chExt cx="4940884" cy="1337836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1E626EB8-2AA2-EF23-7FE3-D21DD84CDCFC}"/>
                  </a:ext>
                </a:extLst>
              </p:cNvPr>
              <p:cNvSpPr/>
              <p:nvPr/>
            </p:nvSpPr>
            <p:spPr>
              <a:xfrm>
                <a:off x="4374566" y="5143500"/>
                <a:ext cx="4940884" cy="1280785"/>
              </a:xfrm>
              <a:prstGeom prst="ellipse">
                <a:avLst/>
              </a:prstGeom>
              <a:noFill/>
              <a:ln w="412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4E8EBCE4-1775-5A31-C5F6-A269E58C03BE}"/>
                  </a:ext>
                </a:extLst>
              </p:cNvPr>
              <p:cNvGrpSpPr/>
              <p:nvPr/>
            </p:nvGrpSpPr>
            <p:grpSpPr>
              <a:xfrm>
                <a:off x="4983150" y="5636770"/>
                <a:ext cx="803288" cy="692009"/>
                <a:chOff x="3375804" y="5796410"/>
                <a:chExt cx="809593" cy="697441"/>
              </a:xfrm>
            </p:grpSpPr>
            <p:cxnSp>
              <p:nvCxnSpPr>
                <p:cNvPr id="119" name="직선 연결선[R] 118">
                  <a:extLst>
                    <a:ext uri="{FF2B5EF4-FFF2-40B4-BE49-F238E27FC236}">
                      <a16:creationId xmlns:a16="http://schemas.microsoft.com/office/drawing/2014/main" id="{230BBEC5-65F1-5AE1-F47F-D2474E7E06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53480" y="5796410"/>
                  <a:ext cx="452693" cy="87699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  <a:prstDash val="soli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[R] 119">
                  <a:extLst>
                    <a:ext uri="{FF2B5EF4-FFF2-40B4-BE49-F238E27FC236}">
                      <a16:creationId xmlns:a16="http://schemas.microsoft.com/office/drawing/2014/main" id="{7600D06C-68A8-BA67-EEFC-39A575A52E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5804" y="5798114"/>
                  <a:ext cx="281796" cy="567129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[R] 120">
                  <a:extLst>
                    <a:ext uri="{FF2B5EF4-FFF2-40B4-BE49-F238E27FC236}">
                      <a16:creationId xmlns:a16="http://schemas.microsoft.com/office/drawing/2014/main" id="{D8C82A2A-798D-089F-B876-2F6CECF0D0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83256" y="5884109"/>
                  <a:ext cx="734419" cy="480804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[R] 121">
                  <a:extLst>
                    <a:ext uri="{FF2B5EF4-FFF2-40B4-BE49-F238E27FC236}">
                      <a16:creationId xmlns:a16="http://schemas.microsoft.com/office/drawing/2014/main" id="{5CE07D29-10DC-01D9-29CA-AC176A42E3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69102" y="5809018"/>
                  <a:ext cx="59095" cy="551441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[R] 122">
                  <a:extLst>
                    <a:ext uri="{FF2B5EF4-FFF2-40B4-BE49-F238E27FC236}">
                      <a16:creationId xmlns:a16="http://schemas.microsoft.com/office/drawing/2014/main" id="{14AE3229-7CD8-FA4B-28C6-D446ACA83B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00868" y="6359829"/>
                  <a:ext cx="327329" cy="0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[R] 123">
                  <a:extLst>
                    <a:ext uri="{FF2B5EF4-FFF2-40B4-BE49-F238E27FC236}">
                      <a16:creationId xmlns:a16="http://schemas.microsoft.com/office/drawing/2014/main" id="{7F5DC3DE-F25E-A9D7-8B63-137D2B0EAF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00868" y="6362704"/>
                  <a:ext cx="771082" cy="129316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[R] 124">
                  <a:extLst>
                    <a:ext uri="{FF2B5EF4-FFF2-40B4-BE49-F238E27FC236}">
                      <a16:creationId xmlns:a16="http://schemas.microsoft.com/office/drawing/2014/main" id="{CB10BE3F-3886-2ECA-082A-F7E6C0AA30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8197" y="6367249"/>
                  <a:ext cx="457200" cy="117844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[R] 125">
                  <a:extLst>
                    <a:ext uri="{FF2B5EF4-FFF2-40B4-BE49-F238E27FC236}">
                      <a16:creationId xmlns:a16="http://schemas.microsoft.com/office/drawing/2014/main" id="{F2290B2E-0ACE-0528-BD47-906699DBAC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21524" y="5881729"/>
                  <a:ext cx="50426" cy="612122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8839AFD5-26B3-FBE5-8D20-DF6072E6D34E}"/>
                  </a:ext>
                </a:extLst>
              </p:cNvPr>
              <p:cNvGrpSpPr/>
              <p:nvPr/>
            </p:nvGrpSpPr>
            <p:grpSpPr>
              <a:xfrm>
                <a:off x="5098142" y="5086449"/>
                <a:ext cx="208740" cy="401302"/>
                <a:chOff x="5098142" y="5086449"/>
                <a:chExt cx="208740" cy="401302"/>
              </a:xfrm>
            </p:grpSpPr>
            <p:cxnSp>
              <p:nvCxnSpPr>
                <p:cNvPr id="117" name="직선 연결선[R] 116">
                  <a:extLst>
                    <a:ext uri="{FF2B5EF4-FFF2-40B4-BE49-F238E27FC236}">
                      <a16:creationId xmlns:a16="http://schemas.microsoft.com/office/drawing/2014/main" id="{3E8980B1-781E-DCE8-9E64-8C6B29BE6F4F}"/>
                    </a:ext>
                  </a:extLst>
                </p:cNvPr>
                <p:cNvCxnSpPr>
                  <a:cxnSpLocks/>
                  <a:endCxn id="111" idx="1"/>
                </p:cNvCxnSpPr>
                <p:nvPr/>
              </p:nvCxnSpPr>
              <p:spPr>
                <a:xfrm flipH="1">
                  <a:off x="5098142" y="5086449"/>
                  <a:ext cx="129616" cy="244617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직선 연결선[R] 117">
                  <a:extLst>
                    <a:ext uri="{FF2B5EF4-FFF2-40B4-BE49-F238E27FC236}">
                      <a16:creationId xmlns:a16="http://schemas.microsoft.com/office/drawing/2014/main" id="{6ABC706C-F596-803B-68D7-9A329F00A06F}"/>
                    </a:ext>
                  </a:extLst>
                </p:cNvPr>
                <p:cNvCxnSpPr>
                  <a:cxnSpLocks/>
                  <a:stCxn id="111" idx="1"/>
                </p:cNvCxnSpPr>
                <p:nvPr/>
              </p:nvCxnSpPr>
              <p:spPr>
                <a:xfrm>
                  <a:off x="5098142" y="5331066"/>
                  <a:ext cx="208740" cy="156685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57D4020A-1981-CCCA-942A-C4304A8F985F}"/>
                  </a:ext>
                </a:extLst>
              </p:cNvPr>
              <p:cNvGrpSpPr/>
              <p:nvPr/>
            </p:nvGrpSpPr>
            <p:grpSpPr>
              <a:xfrm rot="9900000">
                <a:off x="8813884" y="5942329"/>
                <a:ext cx="293406" cy="419107"/>
                <a:chOff x="5077886" y="5065823"/>
                <a:chExt cx="293406" cy="419107"/>
              </a:xfrm>
            </p:grpSpPr>
            <p:cxnSp>
              <p:nvCxnSpPr>
                <p:cNvPr id="115" name="직선 연결선[R] 114">
                  <a:extLst>
                    <a:ext uri="{FF2B5EF4-FFF2-40B4-BE49-F238E27FC236}">
                      <a16:creationId xmlns:a16="http://schemas.microsoft.com/office/drawing/2014/main" id="{F02CD482-4B87-D4D5-92A8-51F52D4C9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1700000" flipV="1">
                  <a:off x="5133061" y="5065823"/>
                  <a:ext cx="63817" cy="278243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연결선[R] 115">
                  <a:extLst>
                    <a:ext uri="{FF2B5EF4-FFF2-40B4-BE49-F238E27FC236}">
                      <a16:creationId xmlns:a16="http://schemas.microsoft.com/office/drawing/2014/main" id="{30908461-FF2A-7EED-2877-4C29D2E90E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1700000" flipH="1" flipV="1">
                  <a:off x="5077886" y="5367026"/>
                  <a:ext cx="293406" cy="117904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E629D64D-D555-0BFF-5451-6E3ADC1A47CE}"/>
              </a:ext>
            </a:extLst>
          </p:cNvPr>
          <p:cNvGrpSpPr/>
          <p:nvPr/>
        </p:nvGrpSpPr>
        <p:grpSpPr>
          <a:xfrm>
            <a:off x="3204962" y="3362276"/>
            <a:ext cx="429304" cy="329353"/>
            <a:chOff x="2418580" y="4912133"/>
            <a:chExt cx="2417020" cy="1501423"/>
          </a:xfrm>
        </p:grpSpPr>
        <p:sp>
          <p:nvSpPr>
            <p:cNvPr id="128" name="자유형 127">
              <a:extLst>
                <a:ext uri="{FF2B5EF4-FFF2-40B4-BE49-F238E27FC236}">
                  <a16:creationId xmlns:a16="http://schemas.microsoft.com/office/drawing/2014/main" id="{F754E730-7840-6F72-43F2-C46A1BE17F1B}"/>
                </a:ext>
              </a:extLst>
            </p:cNvPr>
            <p:cNvSpPr/>
            <p:nvPr/>
          </p:nvSpPr>
          <p:spPr>
            <a:xfrm>
              <a:off x="4016734" y="4912133"/>
              <a:ext cx="818866" cy="791570"/>
            </a:xfrm>
            <a:custGeom>
              <a:avLst/>
              <a:gdLst>
                <a:gd name="csX0" fmla="*/ 0 w 818866"/>
                <a:gd name="csY0" fmla="*/ 0 h 791570"/>
                <a:gd name="csX1" fmla="*/ 341194 w 818866"/>
                <a:gd name="csY1" fmla="*/ 491319 h 791570"/>
                <a:gd name="csX2" fmla="*/ 818866 w 818866"/>
                <a:gd name="csY2" fmla="*/ 791570 h 791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18866" h="791570">
                  <a:moveTo>
                    <a:pt x="0" y="0"/>
                  </a:moveTo>
                  <a:cubicBezTo>
                    <a:pt x="102358" y="179695"/>
                    <a:pt x="204716" y="359391"/>
                    <a:pt x="341194" y="491319"/>
                  </a:cubicBezTo>
                  <a:cubicBezTo>
                    <a:pt x="477672" y="623247"/>
                    <a:pt x="648269" y="707408"/>
                    <a:pt x="818866" y="79157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/>
            </a:p>
          </p:txBody>
        </p:sp>
        <p:sp>
          <p:nvSpPr>
            <p:cNvPr id="129" name="자유형 128">
              <a:extLst>
                <a:ext uri="{FF2B5EF4-FFF2-40B4-BE49-F238E27FC236}">
                  <a16:creationId xmlns:a16="http://schemas.microsoft.com/office/drawing/2014/main" id="{C9EAA3C1-8AEB-8A2E-FBBF-B7777F5B8039}"/>
                </a:ext>
              </a:extLst>
            </p:cNvPr>
            <p:cNvSpPr/>
            <p:nvPr/>
          </p:nvSpPr>
          <p:spPr>
            <a:xfrm flipV="1">
              <a:off x="4016734" y="5659110"/>
              <a:ext cx="818866" cy="754446"/>
            </a:xfrm>
            <a:custGeom>
              <a:avLst/>
              <a:gdLst>
                <a:gd name="csX0" fmla="*/ 0 w 818866"/>
                <a:gd name="csY0" fmla="*/ 0 h 791570"/>
                <a:gd name="csX1" fmla="*/ 341194 w 818866"/>
                <a:gd name="csY1" fmla="*/ 491319 h 791570"/>
                <a:gd name="csX2" fmla="*/ 818866 w 818866"/>
                <a:gd name="csY2" fmla="*/ 791570 h 791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18866" h="791570">
                  <a:moveTo>
                    <a:pt x="0" y="0"/>
                  </a:moveTo>
                  <a:cubicBezTo>
                    <a:pt x="102358" y="179695"/>
                    <a:pt x="204716" y="359391"/>
                    <a:pt x="341194" y="491319"/>
                  </a:cubicBezTo>
                  <a:cubicBezTo>
                    <a:pt x="477672" y="623247"/>
                    <a:pt x="648269" y="707408"/>
                    <a:pt x="818866" y="79157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 dirty="0"/>
            </a:p>
          </p:txBody>
        </p:sp>
        <p:cxnSp>
          <p:nvCxnSpPr>
            <p:cNvPr id="130" name="직선 연결선[R] 129">
              <a:extLst>
                <a:ext uri="{FF2B5EF4-FFF2-40B4-BE49-F238E27FC236}">
                  <a16:creationId xmlns:a16="http://schemas.microsoft.com/office/drawing/2014/main" id="{5167AD5C-986B-2978-D38F-FFF324367648}"/>
                </a:ext>
              </a:extLst>
            </p:cNvPr>
            <p:cNvCxnSpPr>
              <a:cxnSpLocks/>
              <a:stCxn id="128" idx="2"/>
            </p:cNvCxnSpPr>
            <p:nvPr/>
          </p:nvCxnSpPr>
          <p:spPr>
            <a:xfrm flipH="1" flipV="1">
              <a:off x="2418580" y="5686236"/>
              <a:ext cx="2417020" cy="174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71C2B2A-FAB9-6604-B03D-73DE19ED0BEE}"/>
              </a:ext>
            </a:extLst>
          </p:cNvPr>
          <p:cNvSpPr txBox="1"/>
          <p:nvPr/>
        </p:nvSpPr>
        <p:spPr>
          <a:xfrm>
            <a:off x="629905" y="5812336"/>
            <a:ext cx="10932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400" dirty="0">
                <a:latin typeface="Trebuchet MS" panose="020B0703020202090204" pitchFamily="34" charset="0"/>
              </a:rPr>
              <a:t>Humans can easily imagine the unseen views using a mirror.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ADBE8-9C75-353D-3B68-B54CC5573D39}"/>
              </a:ext>
            </a:extLst>
          </p:cNvPr>
          <p:cNvSpPr txBox="1"/>
          <p:nvPr/>
        </p:nvSpPr>
        <p:spPr>
          <a:xfrm>
            <a:off x="89882" y="5229425"/>
            <a:ext cx="3308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Input image &amp; camera pose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4D21E8-5858-F7F4-B769-7080704D36B4}"/>
              </a:ext>
            </a:extLst>
          </p:cNvPr>
          <p:cNvSpPr txBox="1"/>
          <p:nvPr/>
        </p:nvSpPr>
        <p:spPr>
          <a:xfrm>
            <a:off x="547828" y="404988"/>
            <a:ext cx="749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Chalkboard SE" panose="03050602040202020205" pitchFamily="66" charset="0"/>
              </a:rPr>
              <a:t>Q. </a:t>
            </a:r>
            <a:endParaRPr lang="ko-KR" altLang="en-US" sz="2400" dirty="0"/>
          </a:p>
        </p:txBody>
      </p:sp>
      <p:pic>
        <p:nvPicPr>
          <p:cNvPr id="10" name="오디오 9">
            <a:extLst>
              <a:ext uri="{FF2B5EF4-FFF2-40B4-BE49-F238E27FC236}">
                <a16:creationId xmlns:a16="http://schemas.microsoft.com/office/drawing/2014/main" id="{9C16E9D1-7EB4-2FB6-85FE-6DE8B78FF6B4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6285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751">
        <p:fade/>
      </p:transition>
    </mc:Choice>
    <mc:Fallback>
      <p:transition spd="med" advTm="7751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0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6498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DC914-8354-8F00-4A4D-4C48649A6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9">
            <a:extLst>
              <a:ext uri="{FF2B5EF4-FFF2-40B4-BE49-F238E27FC236}">
                <a16:creationId xmlns:a16="http://schemas.microsoft.com/office/drawing/2014/main" id="{F7285120-FFC5-B65C-9A32-4D9FC78D7D1D}"/>
              </a:ext>
            </a:extLst>
          </p:cNvPr>
          <p:cNvSpPr txBox="1">
            <a:spLocks/>
          </p:cNvSpPr>
          <p:nvPr/>
        </p:nvSpPr>
        <p:spPr>
          <a:xfrm>
            <a:off x="340406" y="310292"/>
            <a:ext cx="11511189" cy="51498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latin typeface="Chalkboard SE" panose="03050602040202020205" pitchFamily="66" charset="0"/>
              </a:rPr>
              <a:t>      Given input image, can you imagine the rest of the scene?</a:t>
            </a:r>
          </a:p>
          <a:p>
            <a:pPr marL="0" indent="0">
              <a:buNone/>
            </a:pPr>
            <a:endParaRPr lang="en-US" altLang="ko-KR" sz="100" dirty="0">
              <a:latin typeface="Chalkboard SE" panose="03050602040202020205" pitchFamily="66" charset="0"/>
            </a:endParaRPr>
          </a:p>
          <a:p>
            <a:pPr marL="0" indent="0">
              <a:buNone/>
            </a:pPr>
            <a:r>
              <a:rPr lang="ko-KR" altLang="en-US" dirty="0">
                <a:latin typeface="Chalkboard SE" panose="03050602040202020205" pitchFamily="66" charset="0"/>
              </a:rPr>
              <a:t>      </a:t>
            </a:r>
            <a:r>
              <a:rPr lang="en-US" altLang="ko-KR" dirty="0">
                <a:latin typeface="Chalkboard SE" panose="03050602040202020205" pitchFamily="66" charset="0"/>
              </a:rPr>
              <a:t>There should be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a window,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a drawer, paintings on the wall, … </a:t>
            </a:r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6A867A2-A38B-7CBA-520F-3278F376E583}"/>
              </a:ext>
            </a:extLst>
          </p:cNvPr>
          <p:cNvGrpSpPr/>
          <p:nvPr/>
        </p:nvGrpSpPr>
        <p:grpSpPr>
          <a:xfrm>
            <a:off x="619765" y="2122939"/>
            <a:ext cx="2253702" cy="3077509"/>
            <a:chOff x="1525818" y="2058778"/>
            <a:chExt cx="2705771" cy="3694825"/>
          </a:xfrm>
        </p:grpSpPr>
        <p:pic>
          <p:nvPicPr>
            <p:cNvPr id="109" name="그림 108" descr="벽, 실내, 꽃병, 실내용 화초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2660E30-A022-0C7B-238E-68CC2958E3C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525818" y="2058778"/>
              <a:ext cx="2705771" cy="2740443"/>
            </a:xfrm>
            <a:prstGeom prst="rect">
              <a:avLst/>
            </a:prstGeom>
          </p:spPr>
        </p:pic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5F24FB11-EF36-83DA-B0C6-A909F9517BE9}"/>
                </a:ext>
              </a:extLst>
            </p:cNvPr>
            <p:cNvGrpSpPr/>
            <p:nvPr/>
          </p:nvGrpSpPr>
          <p:grpSpPr>
            <a:xfrm flipH="1">
              <a:off x="1525818" y="5026610"/>
              <a:ext cx="2705771" cy="726993"/>
              <a:chOff x="4374566" y="5086449"/>
              <a:chExt cx="4940884" cy="1337836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D739DE67-D9D9-1E0F-6CAC-CDE8ACC83A25}"/>
                  </a:ext>
                </a:extLst>
              </p:cNvPr>
              <p:cNvSpPr/>
              <p:nvPr/>
            </p:nvSpPr>
            <p:spPr>
              <a:xfrm>
                <a:off x="4374566" y="5143500"/>
                <a:ext cx="4940884" cy="1280785"/>
              </a:xfrm>
              <a:prstGeom prst="ellipse">
                <a:avLst/>
              </a:prstGeom>
              <a:noFill/>
              <a:ln w="412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A7FF2A41-EB03-C34F-CF5E-4F6BB789DB44}"/>
                  </a:ext>
                </a:extLst>
              </p:cNvPr>
              <p:cNvGrpSpPr/>
              <p:nvPr/>
            </p:nvGrpSpPr>
            <p:grpSpPr>
              <a:xfrm>
                <a:off x="4983150" y="5636770"/>
                <a:ext cx="803288" cy="692009"/>
                <a:chOff x="3375804" y="5796410"/>
                <a:chExt cx="809593" cy="697441"/>
              </a:xfrm>
            </p:grpSpPr>
            <p:cxnSp>
              <p:nvCxnSpPr>
                <p:cNvPr id="119" name="직선 연결선[R] 118">
                  <a:extLst>
                    <a:ext uri="{FF2B5EF4-FFF2-40B4-BE49-F238E27FC236}">
                      <a16:creationId xmlns:a16="http://schemas.microsoft.com/office/drawing/2014/main" id="{A76EA2A1-DD18-F1F9-9393-3C9678BB6D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53480" y="5796410"/>
                  <a:ext cx="452693" cy="87699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  <a:prstDash val="soli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[R] 119">
                  <a:extLst>
                    <a:ext uri="{FF2B5EF4-FFF2-40B4-BE49-F238E27FC236}">
                      <a16:creationId xmlns:a16="http://schemas.microsoft.com/office/drawing/2014/main" id="{ED9ADF03-8A5D-90EC-AFC5-0878DC71C2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5804" y="5798114"/>
                  <a:ext cx="281796" cy="567129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[R] 120">
                  <a:extLst>
                    <a:ext uri="{FF2B5EF4-FFF2-40B4-BE49-F238E27FC236}">
                      <a16:creationId xmlns:a16="http://schemas.microsoft.com/office/drawing/2014/main" id="{5E0ABE3F-68F4-B071-5DB4-4826830157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83256" y="5884109"/>
                  <a:ext cx="734419" cy="480804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[R] 121">
                  <a:extLst>
                    <a:ext uri="{FF2B5EF4-FFF2-40B4-BE49-F238E27FC236}">
                      <a16:creationId xmlns:a16="http://schemas.microsoft.com/office/drawing/2014/main" id="{447A5D55-F1B6-5DB1-0D7F-2A43BE0FC0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69102" y="5809018"/>
                  <a:ext cx="59095" cy="551441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[R] 122">
                  <a:extLst>
                    <a:ext uri="{FF2B5EF4-FFF2-40B4-BE49-F238E27FC236}">
                      <a16:creationId xmlns:a16="http://schemas.microsoft.com/office/drawing/2014/main" id="{7BC3FE3B-7292-31B3-53ED-89FA1E77CF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00868" y="6359829"/>
                  <a:ext cx="327329" cy="0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[R] 123">
                  <a:extLst>
                    <a:ext uri="{FF2B5EF4-FFF2-40B4-BE49-F238E27FC236}">
                      <a16:creationId xmlns:a16="http://schemas.microsoft.com/office/drawing/2014/main" id="{9CC3AB22-04A7-92F0-FE2B-66EBE12AA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00868" y="6362704"/>
                  <a:ext cx="771082" cy="129316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[R] 124">
                  <a:extLst>
                    <a:ext uri="{FF2B5EF4-FFF2-40B4-BE49-F238E27FC236}">
                      <a16:creationId xmlns:a16="http://schemas.microsoft.com/office/drawing/2014/main" id="{869E309A-0218-421F-B431-743096AF9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8197" y="6367249"/>
                  <a:ext cx="457200" cy="117844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[R] 125">
                  <a:extLst>
                    <a:ext uri="{FF2B5EF4-FFF2-40B4-BE49-F238E27FC236}">
                      <a16:creationId xmlns:a16="http://schemas.microsoft.com/office/drawing/2014/main" id="{A95ABDCE-7D9C-603A-613C-276897CB27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21524" y="5881729"/>
                  <a:ext cx="50426" cy="612122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D3505C71-582D-9505-77CB-BF244E807AC2}"/>
                  </a:ext>
                </a:extLst>
              </p:cNvPr>
              <p:cNvGrpSpPr/>
              <p:nvPr/>
            </p:nvGrpSpPr>
            <p:grpSpPr>
              <a:xfrm>
                <a:off x="5098142" y="5086449"/>
                <a:ext cx="208740" cy="401302"/>
                <a:chOff x="5098142" y="5086449"/>
                <a:chExt cx="208740" cy="401302"/>
              </a:xfrm>
            </p:grpSpPr>
            <p:cxnSp>
              <p:nvCxnSpPr>
                <p:cNvPr id="117" name="직선 연결선[R] 116">
                  <a:extLst>
                    <a:ext uri="{FF2B5EF4-FFF2-40B4-BE49-F238E27FC236}">
                      <a16:creationId xmlns:a16="http://schemas.microsoft.com/office/drawing/2014/main" id="{8C101171-7C14-ACCA-1390-070CD0046E09}"/>
                    </a:ext>
                  </a:extLst>
                </p:cNvPr>
                <p:cNvCxnSpPr>
                  <a:cxnSpLocks/>
                  <a:endCxn id="111" idx="1"/>
                </p:cNvCxnSpPr>
                <p:nvPr/>
              </p:nvCxnSpPr>
              <p:spPr>
                <a:xfrm flipH="1">
                  <a:off x="5098142" y="5086449"/>
                  <a:ext cx="129616" cy="244617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직선 연결선[R] 117">
                  <a:extLst>
                    <a:ext uri="{FF2B5EF4-FFF2-40B4-BE49-F238E27FC236}">
                      <a16:creationId xmlns:a16="http://schemas.microsoft.com/office/drawing/2014/main" id="{AC609A7B-DD50-EC93-4314-5AA008B5228B}"/>
                    </a:ext>
                  </a:extLst>
                </p:cNvPr>
                <p:cNvCxnSpPr>
                  <a:cxnSpLocks/>
                  <a:stCxn id="111" idx="1"/>
                </p:cNvCxnSpPr>
                <p:nvPr/>
              </p:nvCxnSpPr>
              <p:spPr>
                <a:xfrm>
                  <a:off x="5098142" y="5331066"/>
                  <a:ext cx="208740" cy="156685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164B5C07-9E4B-8486-45F8-75936BEE43B5}"/>
                  </a:ext>
                </a:extLst>
              </p:cNvPr>
              <p:cNvGrpSpPr/>
              <p:nvPr/>
            </p:nvGrpSpPr>
            <p:grpSpPr>
              <a:xfrm rot="9900000">
                <a:off x="8813884" y="5942329"/>
                <a:ext cx="293406" cy="419107"/>
                <a:chOff x="5077886" y="5065823"/>
                <a:chExt cx="293406" cy="419107"/>
              </a:xfrm>
            </p:grpSpPr>
            <p:cxnSp>
              <p:nvCxnSpPr>
                <p:cNvPr id="115" name="직선 연결선[R] 114">
                  <a:extLst>
                    <a:ext uri="{FF2B5EF4-FFF2-40B4-BE49-F238E27FC236}">
                      <a16:creationId xmlns:a16="http://schemas.microsoft.com/office/drawing/2014/main" id="{840F2B0A-E1B5-5F9D-58B9-69BFD6062C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1700000" flipV="1">
                  <a:off x="5133061" y="5065823"/>
                  <a:ext cx="63817" cy="278243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연결선[R] 115">
                  <a:extLst>
                    <a:ext uri="{FF2B5EF4-FFF2-40B4-BE49-F238E27FC236}">
                      <a16:creationId xmlns:a16="http://schemas.microsoft.com/office/drawing/2014/main" id="{6A17AF7B-258E-FDD7-5F46-8A5E779C0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1700000" flipH="1" flipV="1">
                  <a:off x="5077886" y="5367026"/>
                  <a:ext cx="293406" cy="117904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1A02B8D8-DDAE-283A-EE62-D56CBA5D2391}"/>
              </a:ext>
            </a:extLst>
          </p:cNvPr>
          <p:cNvGrpSpPr/>
          <p:nvPr/>
        </p:nvGrpSpPr>
        <p:grpSpPr>
          <a:xfrm>
            <a:off x="3204962" y="3362276"/>
            <a:ext cx="429304" cy="329353"/>
            <a:chOff x="2418580" y="4912133"/>
            <a:chExt cx="2417020" cy="1501423"/>
          </a:xfrm>
        </p:grpSpPr>
        <p:sp>
          <p:nvSpPr>
            <p:cNvPr id="128" name="자유형 127">
              <a:extLst>
                <a:ext uri="{FF2B5EF4-FFF2-40B4-BE49-F238E27FC236}">
                  <a16:creationId xmlns:a16="http://schemas.microsoft.com/office/drawing/2014/main" id="{9C2773AF-658A-1FD5-6D3F-34B421C589B2}"/>
                </a:ext>
              </a:extLst>
            </p:cNvPr>
            <p:cNvSpPr/>
            <p:nvPr/>
          </p:nvSpPr>
          <p:spPr>
            <a:xfrm>
              <a:off x="4016734" y="4912133"/>
              <a:ext cx="818866" cy="791570"/>
            </a:xfrm>
            <a:custGeom>
              <a:avLst/>
              <a:gdLst>
                <a:gd name="csX0" fmla="*/ 0 w 818866"/>
                <a:gd name="csY0" fmla="*/ 0 h 791570"/>
                <a:gd name="csX1" fmla="*/ 341194 w 818866"/>
                <a:gd name="csY1" fmla="*/ 491319 h 791570"/>
                <a:gd name="csX2" fmla="*/ 818866 w 818866"/>
                <a:gd name="csY2" fmla="*/ 791570 h 791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18866" h="791570">
                  <a:moveTo>
                    <a:pt x="0" y="0"/>
                  </a:moveTo>
                  <a:cubicBezTo>
                    <a:pt x="102358" y="179695"/>
                    <a:pt x="204716" y="359391"/>
                    <a:pt x="341194" y="491319"/>
                  </a:cubicBezTo>
                  <a:cubicBezTo>
                    <a:pt x="477672" y="623247"/>
                    <a:pt x="648269" y="707408"/>
                    <a:pt x="818866" y="79157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/>
            </a:p>
          </p:txBody>
        </p:sp>
        <p:sp>
          <p:nvSpPr>
            <p:cNvPr id="129" name="자유형 128">
              <a:extLst>
                <a:ext uri="{FF2B5EF4-FFF2-40B4-BE49-F238E27FC236}">
                  <a16:creationId xmlns:a16="http://schemas.microsoft.com/office/drawing/2014/main" id="{DB97BE14-6ADE-4DAF-CDF0-D89F8397A127}"/>
                </a:ext>
              </a:extLst>
            </p:cNvPr>
            <p:cNvSpPr/>
            <p:nvPr/>
          </p:nvSpPr>
          <p:spPr>
            <a:xfrm flipV="1">
              <a:off x="4016734" y="5659110"/>
              <a:ext cx="818866" cy="754446"/>
            </a:xfrm>
            <a:custGeom>
              <a:avLst/>
              <a:gdLst>
                <a:gd name="csX0" fmla="*/ 0 w 818866"/>
                <a:gd name="csY0" fmla="*/ 0 h 791570"/>
                <a:gd name="csX1" fmla="*/ 341194 w 818866"/>
                <a:gd name="csY1" fmla="*/ 491319 h 791570"/>
                <a:gd name="csX2" fmla="*/ 818866 w 818866"/>
                <a:gd name="csY2" fmla="*/ 791570 h 791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18866" h="791570">
                  <a:moveTo>
                    <a:pt x="0" y="0"/>
                  </a:moveTo>
                  <a:cubicBezTo>
                    <a:pt x="102358" y="179695"/>
                    <a:pt x="204716" y="359391"/>
                    <a:pt x="341194" y="491319"/>
                  </a:cubicBezTo>
                  <a:cubicBezTo>
                    <a:pt x="477672" y="623247"/>
                    <a:pt x="648269" y="707408"/>
                    <a:pt x="818866" y="79157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 dirty="0"/>
            </a:p>
          </p:txBody>
        </p:sp>
        <p:cxnSp>
          <p:nvCxnSpPr>
            <p:cNvPr id="130" name="직선 연결선[R] 129">
              <a:extLst>
                <a:ext uri="{FF2B5EF4-FFF2-40B4-BE49-F238E27FC236}">
                  <a16:creationId xmlns:a16="http://schemas.microsoft.com/office/drawing/2014/main" id="{CA06BC26-821C-8E54-BC94-A21B4A67D5EB}"/>
                </a:ext>
              </a:extLst>
            </p:cNvPr>
            <p:cNvCxnSpPr>
              <a:cxnSpLocks/>
              <a:stCxn id="128" idx="2"/>
            </p:cNvCxnSpPr>
            <p:nvPr/>
          </p:nvCxnSpPr>
          <p:spPr>
            <a:xfrm flipH="1" flipV="1">
              <a:off x="2418580" y="5686236"/>
              <a:ext cx="2417020" cy="174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ED375737-3172-2A0C-5EB3-0E219EFA1FBB}"/>
              </a:ext>
            </a:extLst>
          </p:cNvPr>
          <p:cNvSpPr txBox="1"/>
          <p:nvPr/>
        </p:nvSpPr>
        <p:spPr>
          <a:xfrm>
            <a:off x="629905" y="5812336"/>
            <a:ext cx="10932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400" dirty="0">
                <a:latin typeface="Trebuchet MS" panose="020B0703020202090204" pitchFamily="34" charset="0"/>
              </a:rPr>
              <a:t>How about machines?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212917-447F-C745-B5D3-E082E900B01D}"/>
              </a:ext>
            </a:extLst>
          </p:cNvPr>
          <p:cNvSpPr txBox="1"/>
          <p:nvPr/>
        </p:nvSpPr>
        <p:spPr>
          <a:xfrm>
            <a:off x="89882" y="5229425"/>
            <a:ext cx="3308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Input image &amp; camera pose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0C92ED38-30DB-7CF1-12CE-45A2C8C5BB08}"/>
              </a:ext>
            </a:extLst>
          </p:cNvPr>
          <p:cNvGrpSpPr/>
          <p:nvPr/>
        </p:nvGrpSpPr>
        <p:grpSpPr>
          <a:xfrm>
            <a:off x="4082988" y="1892374"/>
            <a:ext cx="7806147" cy="3404713"/>
            <a:chOff x="4082988" y="1892374"/>
            <a:chExt cx="7806147" cy="340471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6805DC8-FAC7-5A7B-1BEE-9D7BB84951C4}"/>
                </a:ext>
              </a:extLst>
            </p:cNvPr>
            <p:cNvGrpSpPr/>
            <p:nvPr/>
          </p:nvGrpSpPr>
          <p:grpSpPr>
            <a:xfrm>
              <a:off x="4082988" y="2384641"/>
              <a:ext cx="7447322" cy="2912446"/>
              <a:chOff x="4082988" y="2384641"/>
              <a:chExt cx="7447322" cy="2912446"/>
            </a:xfrm>
          </p:grpSpPr>
          <p:cxnSp>
            <p:nvCxnSpPr>
              <p:cNvPr id="65" name="직선 화살표 연결선 64">
                <a:extLst>
                  <a:ext uri="{FF2B5EF4-FFF2-40B4-BE49-F238E27FC236}">
                    <a16:creationId xmlns:a16="http://schemas.microsoft.com/office/drawing/2014/main" id="{7448EB05-EB37-AFB6-26C1-1508238812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2988" y="4910594"/>
                <a:ext cx="744732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9" name="그림 48" descr="실내, 인테리어 디자인, 벽, 거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4DEA9B70-2397-7CD1-4894-AED80C5AA3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flipH="1">
                <a:off x="9076099" y="2384641"/>
                <a:ext cx="2454211" cy="2449686"/>
              </a:xfrm>
              <a:prstGeom prst="rect">
                <a:avLst/>
              </a:prstGeom>
            </p:spPr>
          </p:pic>
          <p:pic>
            <p:nvPicPr>
              <p:cNvPr id="50" name="그림 49" descr="실내, 벽, 창문, 꽃병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FFFE97F2-0BC8-3958-C528-CFDCAB0BE5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4110428" y="2384641"/>
                <a:ext cx="2454211" cy="2449686"/>
              </a:xfrm>
              <a:prstGeom prst="rect">
                <a:avLst/>
              </a:prstGeom>
            </p:spPr>
          </p:pic>
          <p:pic>
            <p:nvPicPr>
              <p:cNvPr id="52" name="그림 51" descr="실내, 리넨, 벽, 인테리어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F3FD23B-1C4C-31F1-D758-D89EA71F8D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6590569" y="2384641"/>
                <a:ext cx="2454211" cy="2449686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F046178-0D65-CCC6-E541-B84005C174FC}"/>
                  </a:ext>
                </a:extLst>
              </p:cNvPr>
              <p:cNvSpPr txBox="1"/>
              <p:nvPr/>
            </p:nvSpPr>
            <p:spPr>
              <a:xfrm>
                <a:off x="6152612" y="4896977"/>
                <a:ext cx="33080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Generated images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3348B0-4B7A-7B76-B001-FBA30087F2A0}"/>
                </a:ext>
              </a:extLst>
            </p:cNvPr>
            <p:cNvSpPr txBox="1"/>
            <p:nvPr/>
          </p:nvSpPr>
          <p:spPr>
            <a:xfrm rot="5400000">
              <a:off x="10035043" y="3346356"/>
              <a:ext cx="33080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ko-KR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SEVA</a:t>
              </a:r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07E37563-C2C6-E0CB-0641-A0B04C502A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8189" y="1789598"/>
            <a:ext cx="851298" cy="8512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9492364-21DA-BB42-3ED3-A359136F6F7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817" y="1066661"/>
            <a:ext cx="611187" cy="6111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323D77-6868-1ADA-94A9-0EF21B2B2220}"/>
              </a:ext>
            </a:extLst>
          </p:cNvPr>
          <p:cNvSpPr txBox="1"/>
          <p:nvPr/>
        </p:nvSpPr>
        <p:spPr>
          <a:xfrm>
            <a:off x="547828" y="404988"/>
            <a:ext cx="749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Chalkboard SE" panose="03050602040202020205" pitchFamily="66" charset="0"/>
              </a:rPr>
              <a:t>Q. </a:t>
            </a:r>
            <a:endParaRPr lang="ko-KR" altLang="en-US" sz="2400" dirty="0"/>
          </a:p>
        </p:txBody>
      </p:sp>
      <p:pic>
        <p:nvPicPr>
          <p:cNvPr id="51" name="오디오 50">
            <a:extLst>
              <a:ext uri="{FF2B5EF4-FFF2-40B4-BE49-F238E27FC236}">
                <a16:creationId xmlns:a16="http://schemas.microsoft.com/office/drawing/2014/main" id="{38F61F99-100A-42AC-3AF3-ECBDD70DCD46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019396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5822">
        <p:fade/>
      </p:transition>
    </mc:Choice>
    <mc:Fallback>
      <p:transition spd="med" advTm="5822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1"/>
                </p:tgtEl>
              </p:cMediaNode>
            </p:audio>
          </p:childTnLst>
        </p:cTn>
      </p:par>
    </p:tnLst>
    <p:bldLst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6498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D83FA-D2F5-8CE4-07CF-C3129AC68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내용 개체 틀 9">
            <a:extLst>
              <a:ext uri="{FF2B5EF4-FFF2-40B4-BE49-F238E27FC236}">
                <a16:creationId xmlns:a16="http://schemas.microsoft.com/office/drawing/2014/main" id="{5BFAFBDD-0424-78F2-DB9E-4B3E331C5DD5}"/>
              </a:ext>
            </a:extLst>
          </p:cNvPr>
          <p:cNvSpPr txBox="1">
            <a:spLocks/>
          </p:cNvSpPr>
          <p:nvPr/>
        </p:nvSpPr>
        <p:spPr>
          <a:xfrm>
            <a:off x="340406" y="310292"/>
            <a:ext cx="11511189" cy="5149849"/>
          </a:xfrm>
          <a:prstGeom prst="rect">
            <a:avLst/>
          </a:prstGeom>
        </p:spPr>
        <p:txBody>
          <a:bodyPr vert="horz" lIns="90000" tIns="46800" rIns="90000" bIns="4680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  <a:lvl2pPr marL="6858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2pPr>
            <a:lvl3pPr marL="11430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3pPr>
            <a:lvl4pPr marL="16002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4pPr>
            <a:lvl5pPr marL="2057400" indent="-22860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>
                <a:latin typeface="Chalkboard SE" panose="03050602040202020205" pitchFamily="66" charset="0"/>
              </a:rPr>
              <a:t>      Given input image, can you imagine the rest of the scene?</a:t>
            </a:r>
          </a:p>
          <a:p>
            <a:pPr marL="0" indent="0">
              <a:buNone/>
            </a:pPr>
            <a:endParaRPr lang="en-US" altLang="ko-KR" sz="100" dirty="0">
              <a:latin typeface="Chalkboard SE" panose="03050602040202020205" pitchFamily="66" charset="0"/>
            </a:endParaRPr>
          </a:p>
          <a:p>
            <a:pPr marL="0" indent="0">
              <a:buNone/>
            </a:pPr>
            <a:r>
              <a:rPr lang="ko-KR" altLang="en-US" dirty="0">
                <a:latin typeface="Chalkboard SE" panose="03050602040202020205" pitchFamily="66" charset="0"/>
              </a:rPr>
              <a:t>      </a:t>
            </a:r>
            <a:r>
              <a:rPr lang="en-US" altLang="ko-KR" dirty="0">
                <a:latin typeface="Chalkboard SE" panose="03050602040202020205" pitchFamily="66" charset="0"/>
              </a:rPr>
              <a:t>There should be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a window,</a:t>
            </a:r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 </a:t>
            </a:r>
            <a:r>
              <a:rPr lang="en-US" altLang="ko-KR" dirty="0">
                <a:solidFill>
                  <a:schemeClr val="accent6">
                    <a:lumMod val="75000"/>
                  </a:schemeClr>
                </a:solidFill>
                <a:latin typeface="Chalkboard SE" panose="03050602040202020205" pitchFamily="66" charset="0"/>
              </a:rPr>
              <a:t>a drawer, paintings on the wall, … </a:t>
            </a:r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lvl="1">
              <a:buFont typeface="Wingdings" pitchFamily="2" charset="2"/>
              <a:buChar char="è"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46DCC1C4-CB0C-415E-7F72-DCD9948BFFE8}"/>
              </a:ext>
            </a:extLst>
          </p:cNvPr>
          <p:cNvGrpSpPr/>
          <p:nvPr/>
        </p:nvGrpSpPr>
        <p:grpSpPr>
          <a:xfrm>
            <a:off x="619765" y="2122939"/>
            <a:ext cx="2253702" cy="3077509"/>
            <a:chOff x="1525818" y="2058778"/>
            <a:chExt cx="2705771" cy="3694825"/>
          </a:xfrm>
        </p:grpSpPr>
        <p:pic>
          <p:nvPicPr>
            <p:cNvPr id="109" name="그림 108" descr="벽, 실내, 꽃병, 실내용 화초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599F559-8EBB-D22E-0508-FBD794D5E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525818" y="2058778"/>
              <a:ext cx="2705771" cy="2740443"/>
            </a:xfrm>
            <a:prstGeom prst="rect">
              <a:avLst/>
            </a:prstGeom>
          </p:spPr>
        </p:pic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E8215A41-76C2-5C7A-2A29-D108ED0F7AF6}"/>
                </a:ext>
              </a:extLst>
            </p:cNvPr>
            <p:cNvGrpSpPr/>
            <p:nvPr/>
          </p:nvGrpSpPr>
          <p:grpSpPr>
            <a:xfrm flipH="1">
              <a:off x="1525818" y="5026610"/>
              <a:ext cx="2705771" cy="726993"/>
              <a:chOff x="4374566" y="5086449"/>
              <a:chExt cx="4940884" cy="1337836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83034A25-BFA4-50EF-ACFC-ADDABA5E1AAA}"/>
                  </a:ext>
                </a:extLst>
              </p:cNvPr>
              <p:cNvSpPr/>
              <p:nvPr/>
            </p:nvSpPr>
            <p:spPr>
              <a:xfrm>
                <a:off x="4374566" y="5143500"/>
                <a:ext cx="4940884" cy="1280785"/>
              </a:xfrm>
              <a:prstGeom prst="ellipse">
                <a:avLst/>
              </a:prstGeom>
              <a:noFill/>
              <a:ln w="412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5DC9005C-A5E2-F480-1CC1-60A8DD350947}"/>
                  </a:ext>
                </a:extLst>
              </p:cNvPr>
              <p:cNvGrpSpPr/>
              <p:nvPr/>
            </p:nvGrpSpPr>
            <p:grpSpPr>
              <a:xfrm>
                <a:off x="4983150" y="5636770"/>
                <a:ext cx="803288" cy="692009"/>
                <a:chOff x="3375804" y="5796410"/>
                <a:chExt cx="809593" cy="697441"/>
              </a:xfrm>
            </p:grpSpPr>
            <p:cxnSp>
              <p:nvCxnSpPr>
                <p:cNvPr id="119" name="직선 연결선[R] 118">
                  <a:extLst>
                    <a:ext uri="{FF2B5EF4-FFF2-40B4-BE49-F238E27FC236}">
                      <a16:creationId xmlns:a16="http://schemas.microsoft.com/office/drawing/2014/main" id="{9D0AD785-DB5F-CBE3-1B41-F0C70D5EA2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53480" y="5796410"/>
                  <a:ext cx="452693" cy="87699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  <a:prstDash val="soli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[R] 119">
                  <a:extLst>
                    <a:ext uri="{FF2B5EF4-FFF2-40B4-BE49-F238E27FC236}">
                      <a16:creationId xmlns:a16="http://schemas.microsoft.com/office/drawing/2014/main" id="{0234322F-A84F-55F2-5D79-001FA7F872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5804" y="5798114"/>
                  <a:ext cx="281796" cy="567129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[R] 120">
                  <a:extLst>
                    <a:ext uri="{FF2B5EF4-FFF2-40B4-BE49-F238E27FC236}">
                      <a16:creationId xmlns:a16="http://schemas.microsoft.com/office/drawing/2014/main" id="{C04172F0-34CC-5685-7BA4-B0BB80A538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83256" y="5884109"/>
                  <a:ext cx="734419" cy="480804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[R] 121">
                  <a:extLst>
                    <a:ext uri="{FF2B5EF4-FFF2-40B4-BE49-F238E27FC236}">
                      <a16:creationId xmlns:a16="http://schemas.microsoft.com/office/drawing/2014/main" id="{0EC54C19-61E9-AFEB-E0B9-AB95324197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69102" y="5809018"/>
                  <a:ext cx="59095" cy="551441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[R] 122">
                  <a:extLst>
                    <a:ext uri="{FF2B5EF4-FFF2-40B4-BE49-F238E27FC236}">
                      <a16:creationId xmlns:a16="http://schemas.microsoft.com/office/drawing/2014/main" id="{57A4527E-6A3B-01F3-10FE-42B51CA58F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00868" y="6359829"/>
                  <a:ext cx="327329" cy="0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[R] 123">
                  <a:extLst>
                    <a:ext uri="{FF2B5EF4-FFF2-40B4-BE49-F238E27FC236}">
                      <a16:creationId xmlns:a16="http://schemas.microsoft.com/office/drawing/2014/main" id="{633B1DF6-06ED-3539-C6B1-A8A0B48C50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00868" y="6362704"/>
                  <a:ext cx="771082" cy="129316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[R] 124">
                  <a:extLst>
                    <a:ext uri="{FF2B5EF4-FFF2-40B4-BE49-F238E27FC236}">
                      <a16:creationId xmlns:a16="http://schemas.microsoft.com/office/drawing/2014/main" id="{885BB127-18D5-35E2-2007-ABE924F748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8197" y="6367249"/>
                  <a:ext cx="457200" cy="117844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[R] 125">
                  <a:extLst>
                    <a:ext uri="{FF2B5EF4-FFF2-40B4-BE49-F238E27FC236}">
                      <a16:creationId xmlns:a16="http://schemas.microsoft.com/office/drawing/2014/main" id="{C4878304-B0ED-9347-B3C1-48A5E741D4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21524" y="5881729"/>
                  <a:ext cx="50426" cy="612122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6A327A28-F144-0D65-A215-F461CBBC9EFF}"/>
                  </a:ext>
                </a:extLst>
              </p:cNvPr>
              <p:cNvGrpSpPr/>
              <p:nvPr/>
            </p:nvGrpSpPr>
            <p:grpSpPr>
              <a:xfrm>
                <a:off x="5098142" y="5086449"/>
                <a:ext cx="208740" cy="401302"/>
                <a:chOff x="5098142" y="5086449"/>
                <a:chExt cx="208740" cy="401302"/>
              </a:xfrm>
            </p:grpSpPr>
            <p:cxnSp>
              <p:nvCxnSpPr>
                <p:cNvPr id="117" name="직선 연결선[R] 116">
                  <a:extLst>
                    <a:ext uri="{FF2B5EF4-FFF2-40B4-BE49-F238E27FC236}">
                      <a16:creationId xmlns:a16="http://schemas.microsoft.com/office/drawing/2014/main" id="{2593214A-7C3C-D384-A716-C3BF0D939AA1}"/>
                    </a:ext>
                  </a:extLst>
                </p:cNvPr>
                <p:cNvCxnSpPr>
                  <a:cxnSpLocks/>
                  <a:endCxn id="111" idx="1"/>
                </p:cNvCxnSpPr>
                <p:nvPr/>
              </p:nvCxnSpPr>
              <p:spPr>
                <a:xfrm flipH="1">
                  <a:off x="5098142" y="5086449"/>
                  <a:ext cx="129616" cy="244617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직선 연결선[R] 117">
                  <a:extLst>
                    <a:ext uri="{FF2B5EF4-FFF2-40B4-BE49-F238E27FC236}">
                      <a16:creationId xmlns:a16="http://schemas.microsoft.com/office/drawing/2014/main" id="{B85F88AD-F9E8-BC58-0FAC-D358B9E80208}"/>
                    </a:ext>
                  </a:extLst>
                </p:cNvPr>
                <p:cNvCxnSpPr>
                  <a:cxnSpLocks/>
                  <a:stCxn id="111" idx="1"/>
                </p:cNvCxnSpPr>
                <p:nvPr/>
              </p:nvCxnSpPr>
              <p:spPr>
                <a:xfrm>
                  <a:off x="5098142" y="5331066"/>
                  <a:ext cx="208740" cy="156685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DEAC6480-3715-240F-7BFE-D323B84E151C}"/>
                  </a:ext>
                </a:extLst>
              </p:cNvPr>
              <p:cNvGrpSpPr/>
              <p:nvPr/>
            </p:nvGrpSpPr>
            <p:grpSpPr>
              <a:xfrm rot="9900000">
                <a:off x="8813884" y="5942329"/>
                <a:ext cx="293406" cy="419107"/>
                <a:chOff x="5077886" y="5065823"/>
                <a:chExt cx="293406" cy="419107"/>
              </a:xfrm>
            </p:grpSpPr>
            <p:cxnSp>
              <p:nvCxnSpPr>
                <p:cNvPr id="115" name="직선 연결선[R] 114">
                  <a:extLst>
                    <a:ext uri="{FF2B5EF4-FFF2-40B4-BE49-F238E27FC236}">
                      <a16:creationId xmlns:a16="http://schemas.microsoft.com/office/drawing/2014/main" id="{DE507FAC-EF4F-F87A-4B31-40805570DC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1700000" flipV="1">
                  <a:off x="5133061" y="5065823"/>
                  <a:ext cx="63817" cy="278243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연결선[R] 115">
                  <a:extLst>
                    <a:ext uri="{FF2B5EF4-FFF2-40B4-BE49-F238E27FC236}">
                      <a16:creationId xmlns:a16="http://schemas.microsoft.com/office/drawing/2014/main" id="{FE5F9D3F-F912-00CE-9BEF-4625DFA56A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1700000" flipH="1" flipV="1">
                  <a:off x="5077886" y="5367026"/>
                  <a:ext cx="293406" cy="117904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8D801EDC-2B59-A7F6-6706-7639E7F4538D}"/>
              </a:ext>
            </a:extLst>
          </p:cNvPr>
          <p:cNvGrpSpPr/>
          <p:nvPr/>
        </p:nvGrpSpPr>
        <p:grpSpPr>
          <a:xfrm>
            <a:off x="3204962" y="3362276"/>
            <a:ext cx="429304" cy="329353"/>
            <a:chOff x="2418580" y="4912133"/>
            <a:chExt cx="2417020" cy="1501423"/>
          </a:xfrm>
        </p:grpSpPr>
        <p:sp>
          <p:nvSpPr>
            <p:cNvPr id="128" name="자유형 127">
              <a:extLst>
                <a:ext uri="{FF2B5EF4-FFF2-40B4-BE49-F238E27FC236}">
                  <a16:creationId xmlns:a16="http://schemas.microsoft.com/office/drawing/2014/main" id="{B95A7D40-3E96-D08D-FF68-7D5E817E698F}"/>
                </a:ext>
              </a:extLst>
            </p:cNvPr>
            <p:cNvSpPr/>
            <p:nvPr/>
          </p:nvSpPr>
          <p:spPr>
            <a:xfrm>
              <a:off x="4016734" y="4912133"/>
              <a:ext cx="818866" cy="791570"/>
            </a:xfrm>
            <a:custGeom>
              <a:avLst/>
              <a:gdLst>
                <a:gd name="csX0" fmla="*/ 0 w 818866"/>
                <a:gd name="csY0" fmla="*/ 0 h 791570"/>
                <a:gd name="csX1" fmla="*/ 341194 w 818866"/>
                <a:gd name="csY1" fmla="*/ 491319 h 791570"/>
                <a:gd name="csX2" fmla="*/ 818866 w 818866"/>
                <a:gd name="csY2" fmla="*/ 791570 h 791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18866" h="791570">
                  <a:moveTo>
                    <a:pt x="0" y="0"/>
                  </a:moveTo>
                  <a:cubicBezTo>
                    <a:pt x="102358" y="179695"/>
                    <a:pt x="204716" y="359391"/>
                    <a:pt x="341194" y="491319"/>
                  </a:cubicBezTo>
                  <a:cubicBezTo>
                    <a:pt x="477672" y="623247"/>
                    <a:pt x="648269" y="707408"/>
                    <a:pt x="818866" y="79157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/>
            </a:p>
          </p:txBody>
        </p:sp>
        <p:sp>
          <p:nvSpPr>
            <p:cNvPr id="129" name="자유형 128">
              <a:extLst>
                <a:ext uri="{FF2B5EF4-FFF2-40B4-BE49-F238E27FC236}">
                  <a16:creationId xmlns:a16="http://schemas.microsoft.com/office/drawing/2014/main" id="{3CD33EF6-A808-6BB7-B25A-BAD6733D88EA}"/>
                </a:ext>
              </a:extLst>
            </p:cNvPr>
            <p:cNvSpPr/>
            <p:nvPr/>
          </p:nvSpPr>
          <p:spPr>
            <a:xfrm flipV="1">
              <a:off x="4016734" y="5659110"/>
              <a:ext cx="818866" cy="754446"/>
            </a:xfrm>
            <a:custGeom>
              <a:avLst/>
              <a:gdLst>
                <a:gd name="csX0" fmla="*/ 0 w 818866"/>
                <a:gd name="csY0" fmla="*/ 0 h 791570"/>
                <a:gd name="csX1" fmla="*/ 341194 w 818866"/>
                <a:gd name="csY1" fmla="*/ 491319 h 791570"/>
                <a:gd name="csX2" fmla="*/ 818866 w 818866"/>
                <a:gd name="csY2" fmla="*/ 791570 h 791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18866" h="791570">
                  <a:moveTo>
                    <a:pt x="0" y="0"/>
                  </a:moveTo>
                  <a:cubicBezTo>
                    <a:pt x="102358" y="179695"/>
                    <a:pt x="204716" y="359391"/>
                    <a:pt x="341194" y="491319"/>
                  </a:cubicBezTo>
                  <a:cubicBezTo>
                    <a:pt x="477672" y="623247"/>
                    <a:pt x="648269" y="707408"/>
                    <a:pt x="818866" y="79157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 dirty="0"/>
            </a:p>
          </p:txBody>
        </p:sp>
        <p:cxnSp>
          <p:nvCxnSpPr>
            <p:cNvPr id="130" name="직선 연결선[R] 129">
              <a:extLst>
                <a:ext uri="{FF2B5EF4-FFF2-40B4-BE49-F238E27FC236}">
                  <a16:creationId xmlns:a16="http://schemas.microsoft.com/office/drawing/2014/main" id="{F4EE1B16-44AF-58E2-C53E-CFA1C9B89725}"/>
                </a:ext>
              </a:extLst>
            </p:cNvPr>
            <p:cNvCxnSpPr>
              <a:cxnSpLocks/>
              <a:stCxn id="128" idx="2"/>
            </p:cNvCxnSpPr>
            <p:nvPr/>
          </p:nvCxnSpPr>
          <p:spPr>
            <a:xfrm flipH="1" flipV="1">
              <a:off x="2418580" y="5686236"/>
              <a:ext cx="2417020" cy="174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FDBC347F-810E-4D03-C3D1-F392160219B0}"/>
              </a:ext>
            </a:extLst>
          </p:cNvPr>
          <p:cNvSpPr txBox="1"/>
          <p:nvPr/>
        </p:nvSpPr>
        <p:spPr>
          <a:xfrm>
            <a:off x="180622" y="5812336"/>
            <a:ext cx="118307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400" dirty="0">
                <a:latin typeface="Trebuchet MS" panose="020B0703020202090204" pitchFamily="34" charset="0"/>
              </a:rPr>
              <a:t>Even SOTA models generate </a:t>
            </a:r>
            <a:r>
              <a:rPr lang="en-US" altLang="ko-KR" sz="2400" dirty="0">
                <a:solidFill>
                  <a:srgbClr val="C00000"/>
                </a:solidFill>
                <a:latin typeface="Trebuchet MS" panose="020B0703020202090204" pitchFamily="34" charset="0"/>
              </a:rPr>
              <a:t>reflection-inconsistent </a:t>
            </a:r>
            <a:r>
              <a:rPr lang="en-US" altLang="ko-KR" sz="2400" dirty="0">
                <a:latin typeface="Trebuchet MS" panose="020B0703020202090204" pitchFamily="34" charset="0"/>
              </a:rPr>
              <a:t>novel view images..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FF8385-C0D4-C8C6-DF49-1D41446F8F0F}"/>
              </a:ext>
            </a:extLst>
          </p:cNvPr>
          <p:cNvSpPr txBox="1"/>
          <p:nvPr/>
        </p:nvSpPr>
        <p:spPr>
          <a:xfrm>
            <a:off x="89882" y="5229425"/>
            <a:ext cx="3308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Input image &amp; camera pose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A823230-A27F-8860-0A88-F710488BF909}"/>
              </a:ext>
            </a:extLst>
          </p:cNvPr>
          <p:cNvGrpSpPr/>
          <p:nvPr/>
        </p:nvGrpSpPr>
        <p:grpSpPr>
          <a:xfrm>
            <a:off x="4082988" y="1892374"/>
            <a:ext cx="7806147" cy="3404713"/>
            <a:chOff x="4082988" y="1892374"/>
            <a:chExt cx="7806147" cy="3404713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CC6E4FAD-D414-2F65-E2F3-1C48A276B4AB}"/>
                </a:ext>
              </a:extLst>
            </p:cNvPr>
            <p:cNvGrpSpPr/>
            <p:nvPr/>
          </p:nvGrpSpPr>
          <p:grpSpPr>
            <a:xfrm>
              <a:off x="4082988" y="2384641"/>
              <a:ext cx="7447322" cy="2912446"/>
              <a:chOff x="4082988" y="2384641"/>
              <a:chExt cx="7447322" cy="2912446"/>
            </a:xfrm>
          </p:grpSpPr>
          <p:cxnSp>
            <p:nvCxnSpPr>
              <p:cNvPr id="65" name="직선 화살표 연결선 64">
                <a:extLst>
                  <a:ext uri="{FF2B5EF4-FFF2-40B4-BE49-F238E27FC236}">
                    <a16:creationId xmlns:a16="http://schemas.microsoft.com/office/drawing/2014/main" id="{BA547D63-21F4-D5E3-48B1-906112799B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2988" y="4910594"/>
                <a:ext cx="744732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9" name="그림 48" descr="실내, 인테리어 디자인, 벽, 거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05634908-FA14-C3F6-68DF-5BC43774E82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 flipH="1">
                <a:off x="9076099" y="2384641"/>
                <a:ext cx="2454211" cy="2449686"/>
              </a:xfrm>
              <a:prstGeom prst="rect">
                <a:avLst/>
              </a:prstGeom>
            </p:spPr>
          </p:pic>
          <p:pic>
            <p:nvPicPr>
              <p:cNvPr id="50" name="그림 49" descr="실내, 벽, 창문, 꽃병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83C9392-F42C-CBC5-B7E7-1779AA61EF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flipH="1">
                <a:off x="4110428" y="2384641"/>
                <a:ext cx="2454211" cy="2449686"/>
              </a:xfrm>
              <a:prstGeom prst="rect">
                <a:avLst/>
              </a:prstGeom>
            </p:spPr>
          </p:pic>
          <p:pic>
            <p:nvPicPr>
              <p:cNvPr id="52" name="그림 51" descr="실내, 리넨, 벽, 인테리어 디자인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EA780A45-16D8-1FEE-2DA0-94E159B1D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 flipH="1">
                <a:off x="6590569" y="2384641"/>
                <a:ext cx="2454211" cy="2449686"/>
              </a:xfrm>
              <a:prstGeom prst="rect">
                <a:avLst/>
              </a:prstGeom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5F5A206-B0B1-C799-63D8-3D9778DA70C2}"/>
                  </a:ext>
                </a:extLst>
              </p:cNvPr>
              <p:cNvSpPr txBox="1"/>
              <p:nvPr/>
            </p:nvSpPr>
            <p:spPr>
              <a:xfrm>
                <a:off x="6152612" y="4896977"/>
                <a:ext cx="33080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Generated images</a:t>
                </a:r>
              </a:p>
            </p:txBody>
          </p:sp>
        </p:grp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9454ECD-36DE-C5F8-2241-8C3ED5117C25}"/>
                </a:ext>
              </a:extLst>
            </p:cNvPr>
            <p:cNvSpPr txBox="1"/>
            <p:nvPr/>
          </p:nvSpPr>
          <p:spPr>
            <a:xfrm rot="5400000">
              <a:off x="10035043" y="3346356"/>
              <a:ext cx="33080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ko-KR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SEVA</a:t>
              </a:r>
            </a:p>
          </p:txBody>
        </p:sp>
      </p:grpSp>
      <p:pic>
        <p:nvPicPr>
          <p:cNvPr id="73" name="그림 72">
            <a:extLst>
              <a:ext uri="{FF2B5EF4-FFF2-40B4-BE49-F238E27FC236}">
                <a16:creationId xmlns:a16="http://schemas.microsoft.com/office/drawing/2014/main" id="{3A74C318-A114-B5B3-3B04-52B30125D0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88189" y="1789598"/>
            <a:ext cx="851298" cy="85129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C3D534A-D0EC-AAE5-97A7-F3AB6FEA63B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7817" y="1066661"/>
            <a:ext cx="611187" cy="61118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3E7F440-2D74-3B76-E739-859896A00EA3}"/>
              </a:ext>
            </a:extLst>
          </p:cNvPr>
          <p:cNvSpPr txBox="1"/>
          <p:nvPr/>
        </p:nvSpPr>
        <p:spPr>
          <a:xfrm>
            <a:off x="547828" y="404988"/>
            <a:ext cx="7496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dirty="0">
                <a:latin typeface="Chalkboard SE" panose="03050602040202020205" pitchFamily="66" charset="0"/>
              </a:rPr>
              <a:t>Q. </a:t>
            </a:r>
            <a:endParaRPr lang="ko-KR" altLang="en-US" sz="24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C0C44B6-1B11-66B8-D88C-DD3F2A48CBE2}"/>
              </a:ext>
            </a:extLst>
          </p:cNvPr>
          <p:cNvSpPr/>
          <p:nvPr/>
        </p:nvSpPr>
        <p:spPr>
          <a:xfrm>
            <a:off x="4082988" y="2841214"/>
            <a:ext cx="548392" cy="97950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24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773828-9678-9D56-8CA3-49D2E2DD33D6}"/>
              </a:ext>
            </a:extLst>
          </p:cNvPr>
          <p:cNvSpPr txBox="1"/>
          <p:nvPr/>
        </p:nvSpPr>
        <p:spPr>
          <a:xfrm>
            <a:off x="5211089" y="2390184"/>
            <a:ext cx="1440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  <a:effectLst>
                  <a:glow rad="174513">
                    <a:schemeClr val="bg1">
                      <a:alpha val="75000"/>
                    </a:schemeClr>
                  </a:glow>
                </a:effectLst>
                <a:latin typeface="NanumSquare Bold" panose="020B0600000101010101" pitchFamily="34" charset="-127"/>
                <a:ea typeface="NanumSquare" panose="020B0600000101010101" pitchFamily="34" charset="-127"/>
                <a:cs typeface="Times New Roman" panose="02020603050405020304" pitchFamily="18" charset="0"/>
              </a:rPr>
              <a:t>Leakage</a:t>
            </a:r>
            <a:endParaRPr lang="en-KR" dirty="0">
              <a:solidFill>
                <a:srgbClr val="FF0000"/>
              </a:solidFill>
              <a:effectLst>
                <a:glow rad="174513">
                  <a:schemeClr val="bg1">
                    <a:alpha val="75000"/>
                  </a:schemeClr>
                </a:glow>
              </a:effectLst>
              <a:latin typeface="NanumSquare" panose="020B0600000101010101" pitchFamily="34" charset="-127"/>
              <a:ea typeface="NanumSquare" panose="020B0600000101010101" pitchFamily="34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5FEAB9-A966-FF56-CD5B-3576770683AA}"/>
              </a:ext>
            </a:extLst>
          </p:cNvPr>
          <p:cNvSpPr txBox="1"/>
          <p:nvPr/>
        </p:nvSpPr>
        <p:spPr>
          <a:xfrm>
            <a:off x="7652514" y="2384641"/>
            <a:ext cx="3909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>
                <a:solidFill>
                  <a:srgbClr val="FF0000"/>
                </a:solidFill>
                <a:effectLst>
                  <a:glow rad="174513">
                    <a:schemeClr val="bg1">
                      <a:alpha val="75000"/>
                    </a:schemeClr>
                  </a:glow>
                </a:effectLst>
                <a:latin typeface="NanumSquare Bold" panose="020B0600000101010101" pitchFamily="34" charset="-127"/>
                <a:ea typeface="NanumSquare" panose="020B0600000101010101" pitchFamily="34" charset="-127"/>
                <a:cs typeface="Times New Roman" panose="02020603050405020304" pitchFamily="18" charset="0"/>
              </a:rPr>
              <a:t>Reflection inconsistency</a:t>
            </a:r>
            <a:endParaRPr lang="en-KR" dirty="0">
              <a:solidFill>
                <a:srgbClr val="FF0000"/>
              </a:solidFill>
              <a:effectLst>
                <a:glow rad="174513">
                  <a:schemeClr val="bg1">
                    <a:alpha val="75000"/>
                  </a:schemeClr>
                </a:glow>
              </a:effectLst>
              <a:latin typeface="NanumSquare" panose="020B0600000101010101" pitchFamily="34" charset="-127"/>
              <a:ea typeface="NanumSquare" panose="020B0600000101010101" pitchFamily="34" charset="-127"/>
              <a:cs typeface="Times New Roman" panose="02020603050405020304" pitchFamily="18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830106A-746C-27DA-2CAC-ABDD7D8C58DC}"/>
              </a:ext>
            </a:extLst>
          </p:cNvPr>
          <p:cNvGrpSpPr/>
          <p:nvPr/>
        </p:nvGrpSpPr>
        <p:grpSpPr>
          <a:xfrm>
            <a:off x="3451087" y="1377245"/>
            <a:ext cx="5704202" cy="0"/>
            <a:chOff x="3451087" y="1377245"/>
            <a:chExt cx="5704202" cy="0"/>
          </a:xfrm>
        </p:grpSpPr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00616127-806B-DB55-6660-6C7AE65FD8A6}"/>
                </a:ext>
              </a:extLst>
            </p:cNvPr>
            <p:cNvCxnSpPr/>
            <p:nvPr/>
          </p:nvCxnSpPr>
          <p:spPr>
            <a:xfrm>
              <a:off x="3451087" y="1377245"/>
              <a:ext cx="126380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[R] 10">
              <a:extLst>
                <a:ext uri="{FF2B5EF4-FFF2-40B4-BE49-F238E27FC236}">
                  <a16:creationId xmlns:a16="http://schemas.microsoft.com/office/drawing/2014/main" id="{B98BA82F-DC93-E619-FC7F-E7F736545EC5}"/>
                </a:ext>
              </a:extLst>
            </p:cNvPr>
            <p:cNvCxnSpPr>
              <a:cxnSpLocks/>
            </p:cNvCxnSpPr>
            <p:nvPr/>
          </p:nvCxnSpPr>
          <p:spPr>
            <a:xfrm>
              <a:off x="4873487" y="1377245"/>
              <a:ext cx="1263801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[R] 17">
              <a:extLst>
                <a:ext uri="{FF2B5EF4-FFF2-40B4-BE49-F238E27FC236}">
                  <a16:creationId xmlns:a16="http://schemas.microsoft.com/office/drawing/2014/main" id="{53A8EB01-67C8-16E2-EFE8-5F9493DA889D}"/>
                </a:ext>
              </a:extLst>
            </p:cNvPr>
            <p:cNvCxnSpPr>
              <a:cxnSpLocks/>
            </p:cNvCxnSpPr>
            <p:nvPr/>
          </p:nvCxnSpPr>
          <p:spPr>
            <a:xfrm>
              <a:off x="6307176" y="1377245"/>
              <a:ext cx="2848113" cy="0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3" name="오디오 32">
            <a:extLst>
              <a:ext uri="{FF2B5EF4-FFF2-40B4-BE49-F238E27FC236}">
                <a16:creationId xmlns:a16="http://schemas.microsoft.com/office/drawing/2014/main" id="{B81D198C-F43A-6D41-B7DF-76EB011A920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06253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7323">
        <p:fade/>
      </p:transition>
    </mc:Choice>
    <mc:Fallback>
      <p:transition spd="med" advTm="7323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3"/>
                </p:tgtEl>
              </p:cMediaNode>
            </p:audio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  <a:alpha val="64988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789E24-6F21-AC90-3C70-81808DA4F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D527A600-EA39-9F99-B5C3-BFA0261394A7}"/>
              </a:ext>
            </a:extLst>
          </p:cNvPr>
          <p:cNvGrpSpPr/>
          <p:nvPr/>
        </p:nvGrpSpPr>
        <p:grpSpPr>
          <a:xfrm>
            <a:off x="619765" y="2122939"/>
            <a:ext cx="2253702" cy="3077509"/>
            <a:chOff x="1525818" y="2058778"/>
            <a:chExt cx="2705771" cy="3694825"/>
          </a:xfrm>
        </p:grpSpPr>
        <p:pic>
          <p:nvPicPr>
            <p:cNvPr id="109" name="그림 108" descr="벽, 실내, 꽃병, 실내용 화초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B346020-3949-E03A-D7A3-4AAF49CB8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flipH="1">
              <a:off x="1525818" y="2058778"/>
              <a:ext cx="2705771" cy="2740443"/>
            </a:xfrm>
            <a:prstGeom prst="rect">
              <a:avLst/>
            </a:prstGeom>
          </p:spPr>
        </p:pic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E73F65D4-5C77-BD0B-E5A7-BB795105A2D8}"/>
                </a:ext>
              </a:extLst>
            </p:cNvPr>
            <p:cNvGrpSpPr/>
            <p:nvPr/>
          </p:nvGrpSpPr>
          <p:grpSpPr>
            <a:xfrm flipH="1">
              <a:off x="1525818" y="5026610"/>
              <a:ext cx="2705771" cy="726993"/>
              <a:chOff x="4374566" y="5086449"/>
              <a:chExt cx="4940884" cy="1337836"/>
            </a:xfrm>
          </p:grpSpPr>
          <p:sp>
            <p:nvSpPr>
              <p:cNvPr id="111" name="타원 110">
                <a:extLst>
                  <a:ext uri="{FF2B5EF4-FFF2-40B4-BE49-F238E27FC236}">
                    <a16:creationId xmlns:a16="http://schemas.microsoft.com/office/drawing/2014/main" id="{9E0AE3E8-D091-0A18-1769-2D5FA00DB971}"/>
                  </a:ext>
                </a:extLst>
              </p:cNvPr>
              <p:cNvSpPr/>
              <p:nvPr/>
            </p:nvSpPr>
            <p:spPr>
              <a:xfrm>
                <a:off x="4374566" y="5143500"/>
                <a:ext cx="4940884" cy="1280785"/>
              </a:xfrm>
              <a:prstGeom prst="ellipse">
                <a:avLst/>
              </a:prstGeom>
              <a:noFill/>
              <a:ln w="412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grpSp>
            <p:nvGrpSpPr>
              <p:cNvPr id="112" name="그룹 111">
                <a:extLst>
                  <a:ext uri="{FF2B5EF4-FFF2-40B4-BE49-F238E27FC236}">
                    <a16:creationId xmlns:a16="http://schemas.microsoft.com/office/drawing/2014/main" id="{6791BB5F-E766-6C14-406D-184C38DFA753}"/>
                  </a:ext>
                </a:extLst>
              </p:cNvPr>
              <p:cNvGrpSpPr/>
              <p:nvPr/>
            </p:nvGrpSpPr>
            <p:grpSpPr>
              <a:xfrm>
                <a:off x="4983150" y="5636770"/>
                <a:ext cx="803288" cy="692009"/>
                <a:chOff x="3375804" y="5796410"/>
                <a:chExt cx="809593" cy="697441"/>
              </a:xfrm>
            </p:grpSpPr>
            <p:cxnSp>
              <p:nvCxnSpPr>
                <p:cNvPr id="119" name="직선 연결선[R] 118">
                  <a:extLst>
                    <a:ext uri="{FF2B5EF4-FFF2-40B4-BE49-F238E27FC236}">
                      <a16:creationId xmlns:a16="http://schemas.microsoft.com/office/drawing/2014/main" id="{897462A1-3C6B-D9AC-5138-FA73632752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53480" y="5796410"/>
                  <a:ext cx="452693" cy="87699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  <a:prstDash val="solid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[R] 119">
                  <a:extLst>
                    <a:ext uri="{FF2B5EF4-FFF2-40B4-BE49-F238E27FC236}">
                      <a16:creationId xmlns:a16="http://schemas.microsoft.com/office/drawing/2014/main" id="{69F4FE32-0182-F340-4394-824065BBA2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75804" y="5798114"/>
                  <a:ext cx="281796" cy="567129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직선 연결선[R] 120">
                  <a:extLst>
                    <a:ext uri="{FF2B5EF4-FFF2-40B4-BE49-F238E27FC236}">
                      <a16:creationId xmlns:a16="http://schemas.microsoft.com/office/drawing/2014/main" id="{F06B68B7-01AE-8377-9FFD-6ADB92C8E6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383256" y="5884109"/>
                  <a:ext cx="734419" cy="480804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직선 연결선[R] 121">
                  <a:extLst>
                    <a:ext uri="{FF2B5EF4-FFF2-40B4-BE49-F238E27FC236}">
                      <a16:creationId xmlns:a16="http://schemas.microsoft.com/office/drawing/2014/main" id="{0B9405EB-2336-2635-AE6C-5B5143D247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669102" y="5809018"/>
                  <a:ext cx="59095" cy="551441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직선 연결선[R] 122">
                  <a:extLst>
                    <a:ext uri="{FF2B5EF4-FFF2-40B4-BE49-F238E27FC236}">
                      <a16:creationId xmlns:a16="http://schemas.microsoft.com/office/drawing/2014/main" id="{35BBD8B4-3F83-B1D4-C7E4-01049A4621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400868" y="6359829"/>
                  <a:ext cx="327329" cy="0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직선 연결선[R] 123">
                  <a:extLst>
                    <a:ext uri="{FF2B5EF4-FFF2-40B4-BE49-F238E27FC236}">
                      <a16:creationId xmlns:a16="http://schemas.microsoft.com/office/drawing/2014/main" id="{31AA9CA3-B1DF-CA51-A008-07C7A9031E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400868" y="6362704"/>
                  <a:ext cx="771082" cy="129316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직선 연결선[R] 124">
                  <a:extLst>
                    <a:ext uri="{FF2B5EF4-FFF2-40B4-BE49-F238E27FC236}">
                      <a16:creationId xmlns:a16="http://schemas.microsoft.com/office/drawing/2014/main" id="{D507A4E2-64DA-B4CA-E511-606C808CDF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728197" y="6367249"/>
                  <a:ext cx="457200" cy="117844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직선 연결선[R] 125">
                  <a:extLst>
                    <a:ext uri="{FF2B5EF4-FFF2-40B4-BE49-F238E27FC236}">
                      <a16:creationId xmlns:a16="http://schemas.microsoft.com/office/drawing/2014/main" id="{582C2D32-4474-AAF5-47EA-C8B0586BB0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4121524" y="5881729"/>
                  <a:ext cx="50426" cy="612122"/>
                </a:xfrm>
                <a:prstGeom prst="line">
                  <a:avLst/>
                </a:prstGeom>
                <a:ln w="41275">
                  <a:solidFill>
                    <a:srgbClr val="C0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987107CC-ECBF-819F-53F6-2428720FDD57}"/>
                  </a:ext>
                </a:extLst>
              </p:cNvPr>
              <p:cNvGrpSpPr/>
              <p:nvPr/>
            </p:nvGrpSpPr>
            <p:grpSpPr>
              <a:xfrm>
                <a:off x="5098142" y="5086449"/>
                <a:ext cx="208740" cy="401302"/>
                <a:chOff x="5098142" y="5086449"/>
                <a:chExt cx="208740" cy="401302"/>
              </a:xfrm>
            </p:grpSpPr>
            <p:cxnSp>
              <p:nvCxnSpPr>
                <p:cNvPr id="117" name="직선 연결선[R] 116">
                  <a:extLst>
                    <a:ext uri="{FF2B5EF4-FFF2-40B4-BE49-F238E27FC236}">
                      <a16:creationId xmlns:a16="http://schemas.microsoft.com/office/drawing/2014/main" id="{CF560AF2-05C4-BBF3-F2E2-92CB7EAB567D}"/>
                    </a:ext>
                  </a:extLst>
                </p:cNvPr>
                <p:cNvCxnSpPr>
                  <a:cxnSpLocks/>
                  <a:endCxn id="111" idx="1"/>
                </p:cNvCxnSpPr>
                <p:nvPr/>
              </p:nvCxnSpPr>
              <p:spPr>
                <a:xfrm flipH="1">
                  <a:off x="5098142" y="5086449"/>
                  <a:ext cx="129616" cy="244617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직선 연결선[R] 117">
                  <a:extLst>
                    <a:ext uri="{FF2B5EF4-FFF2-40B4-BE49-F238E27FC236}">
                      <a16:creationId xmlns:a16="http://schemas.microsoft.com/office/drawing/2014/main" id="{FA55EFDE-FCC5-14E4-AB91-1F2A7BC9E6B0}"/>
                    </a:ext>
                  </a:extLst>
                </p:cNvPr>
                <p:cNvCxnSpPr>
                  <a:cxnSpLocks/>
                  <a:stCxn id="111" idx="1"/>
                </p:cNvCxnSpPr>
                <p:nvPr/>
              </p:nvCxnSpPr>
              <p:spPr>
                <a:xfrm>
                  <a:off x="5098142" y="5331066"/>
                  <a:ext cx="208740" cy="156685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4" name="그룹 113">
                <a:extLst>
                  <a:ext uri="{FF2B5EF4-FFF2-40B4-BE49-F238E27FC236}">
                    <a16:creationId xmlns:a16="http://schemas.microsoft.com/office/drawing/2014/main" id="{505D9DD5-A87B-8DCB-E815-C821E828CA78}"/>
                  </a:ext>
                </a:extLst>
              </p:cNvPr>
              <p:cNvGrpSpPr/>
              <p:nvPr/>
            </p:nvGrpSpPr>
            <p:grpSpPr>
              <a:xfrm rot="9900000">
                <a:off x="8813884" y="5942329"/>
                <a:ext cx="293406" cy="419107"/>
                <a:chOff x="5077886" y="5065823"/>
                <a:chExt cx="293406" cy="419107"/>
              </a:xfrm>
            </p:grpSpPr>
            <p:cxnSp>
              <p:nvCxnSpPr>
                <p:cNvPr id="115" name="직선 연결선[R] 114">
                  <a:extLst>
                    <a:ext uri="{FF2B5EF4-FFF2-40B4-BE49-F238E27FC236}">
                      <a16:creationId xmlns:a16="http://schemas.microsoft.com/office/drawing/2014/main" id="{41092204-7ED8-D047-F2AA-107B8CC7FB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1700000" flipV="1">
                  <a:off x="5133061" y="5065823"/>
                  <a:ext cx="63817" cy="278243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직선 연결선[R] 115">
                  <a:extLst>
                    <a:ext uri="{FF2B5EF4-FFF2-40B4-BE49-F238E27FC236}">
                      <a16:creationId xmlns:a16="http://schemas.microsoft.com/office/drawing/2014/main" id="{BA5B24FE-654F-7668-205C-2D86C1D5B8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1700000" flipH="1" flipV="1">
                  <a:off x="5077886" y="5367026"/>
                  <a:ext cx="293406" cy="117904"/>
                </a:xfrm>
                <a:prstGeom prst="line">
                  <a:avLst/>
                </a:prstGeom>
                <a:ln w="412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7" name="그룹 126">
            <a:extLst>
              <a:ext uri="{FF2B5EF4-FFF2-40B4-BE49-F238E27FC236}">
                <a16:creationId xmlns:a16="http://schemas.microsoft.com/office/drawing/2014/main" id="{A56D5EE3-14BB-E53F-D96C-AA1A6C8DEB68}"/>
              </a:ext>
            </a:extLst>
          </p:cNvPr>
          <p:cNvGrpSpPr/>
          <p:nvPr/>
        </p:nvGrpSpPr>
        <p:grpSpPr>
          <a:xfrm>
            <a:off x="3204962" y="3362276"/>
            <a:ext cx="429304" cy="329353"/>
            <a:chOff x="2418580" y="4912133"/>
            <a:chExt cx="2417020" cy="1501423"/>
          </a:xfrm>
        </p:grpSpPr>
        <p:sp>
          <p:nvSpPr>
            <p:cNvPr id="128" name="자유형 127">
              <a:extLst>
                <a:ext uri="{FF2B5EF4-FFF2-40B4-BE49-F238E27FC236}">
                  <a16:creationId xmlns:a16="http://schemas.microsoft.com/office/drawing/2014/main" id="{0A961CD7-4CCB-AC91-A41D-5D7B51AB0E6F}"/>
                </a:ext>
              </a:extLst>
            </p:cNvPr>
            <p:cNvSpPr/>
            <p:nvPr/>
          </p:nvSpPr>
          <p:spPr>
            <a:xfrm>
              <a:off x="4016734" y="4912133"/>
              <a:ext cx="818866" cy="791570"/>
            </a:xfrm>
            <a:custGeom>
              <a:avLst/>
              <a:gdLst>
                <a:gd name="csX0" fmla="*/ 0 w 818866"/>
                <a:gd name="csY0" fmla="*/ 0 h 791570"/>
                <a:gd name="csX1" fmla="*/ 341194 w 818866"/>
                <a:gd name="csY1" fmla="*/ 491319 h 791570"/>
                <a:gd name="csX2" fmla="*/ 818866 w 818866"/>
                <a:gd name="csY2" fmla="*/ 791570 h 791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18866" h="791570">
                  <a:moveTo>
                    <a:pt x="0" y="0"/>
                  </a:moveTo>
                  <a:cubicBezTo>
                    <a:pt x="102358" y="179695"/>
                    <a:pt x="204716" y="359391"/>
                    <a:pt x="341194" y="491319"/>
                  </a:cubicBezTo>
                  <a:cubicBezTo>
                    <a:pt x="477672" y="623247"/>
                    <a:pt x="648269" y="707408"/>
                    <a:pt x="818866" y="79157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/>
            </a:p>
          </p:txBody>
        </p:sp>
        <p:sp>
          <p:nvSpPr>
            <p:cNvPr id="129" name="자유형 128">
              <a:extLst>
                <a:ext uri="{FF2B5EF4-FFF2-40B4-BE49-F238E27FC236}">
                  <a16:creationId xmlns:a16="http://schemas.microsoft.com/office/drawing/2014/main" id="{ED17EE10-C08B-4B87-3023-01F7349CA201}"/>
                </a:ext>
              </a:extLst>
            </p:cNvPr>
            <p:cNvSpPr/>
            <p:nvPr/>
          </p:nvSpPr>
          <p:spPr>
            <a:xfrm flipV="1">
              <a:off x="4016734" y="5659110"/>
              <a:ext cx="818866" cy="754446"/>
            </a:xfrm>
            <a:custGeom>
              <a:avLst/>
              <a:gdLst>
                <a:gd name="csX0" fmla="*/ 0 w 818866"/>
                <a:gd name="csY0" fmla="*/ 0 h 791570"/>
                <a:gd name="csX1" fmla="*/ 341194 w 818866"/>
                <a:gd name="csY1" fmla="*/ 491319 h 791570"/>
                <a:gd name="csX2" fmla="*/ 818866 w 818866"/>
                <a:gd name="csY2" fmla="*/ 791570 h 7915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18866" h="791570">
                  <a:moveTo>
                    <a:pt x="0" y="0"/>
                  </a:moveTo>
                  <a:cubicBezTo>
                    <a:pt x="102358" y="179695"/>
                    <a:pt x="204716" y="359391"/>
                    <a:pt x="341194" y="491319"/>
                  </a:cubicBezTo>
                  <a:cubicBezTo>
                    <a:pt x="477672" y="623247"/>
                    <a:pt x="648269" y="707408"/>
                    <a:pt x="818866" y="791570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 dirty="0"/>
            </a:p>
          </p:txBody>
        </p:sp>
        <p:cxnSp>
          <p:nvCxnSpPr>
            <p:cNvPr id="130" name="직선 연결선[R] 129">
              <a:extLst>
                <a:ext uri="{FF2B5EF4-FFF2-40B4-BE49-F238E27FC236}">
                  <a16:creationId xmlns:a16="http://schemas.microsoft.com/office/drawing/2014/main" id="{DFE5EF40-3089-A841-C5B8-CC712DEA05B9}"/>
                </a:ext>
              </a:extLst>
            </p:cNvPr>
            <p:cNvCxnSpPr>
              <a:cxnSpLocks/>
              <a:stCxn id="128" idx="2"/>
            </p:cNvCxnSpPr>
            <p:nvPr/>
          </p:nvCxnSpPr>
          <p:spPr>
            <a:xfrm flipH="1" flipV="1">
              <a:off x="2418580" y="5686236"/>
              <a:ext cx="2417020" cy="174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F4D1A72B-DD00-3B9F-E338-878BB28EAB24}"/>
              </a:ext>
            </a:extLst>
          </p:cNvPr>
          <p:cNvGrpSpPr/>
          <p:nvPr/>
        </p:nvGrpSpPr>
        <p:grpSpPr>
          <a:xfrm>
            <a:off x="180622" y="404862"/>
            <a:ext cx="11830756" cy="5869139"/>
            <a:chOff x="180622" y="404862"/>
            <a:chExt cx="11830756" cy="5869139"/>
          </a:xfrm>
        </p:grpSpPr>
        <p:sp>
          <p:nvSpPr>
            <p:cNvPr id="13" name="내용 개체 틀 9">
              <a:extLst>
                <a:ext uri="{FF2B5EF4-FFF2-40B4-BE49-F238E27FC236}">
                  <a16:creationId xmlns:a16="http://schemas.microsoft.com/office/drawing/2014/main" id="{7E0E3D1A-9EF4-7314-498E-5FD0F5902244}"/>
                </a:ext>
              </a:extLst>
            </p:cNvPr>
            <p:cNvSpPr txBox="1">
              <a:spLocks/>
            </p:cNvSpPr>
            <p:nvPr/>
          </p:nvSpPr>
          <p:spPr>
            <a:xfrm>
              <a:off x="340406" y="404862"/>
              <a:ext cx="11511189" cy="5149849"/>
            </a:xfrm>
            <a:prstGeom prst="rect">
              <a:avLst/>
            </a:prstGeom>
          </p:spPr>
          <p:txBody>
            <a:bodyPr vert="horz" lIns="90000" tIns="46800" rIns="90000" bIns="4680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130000"/>
                </a:lnSpc>
                <a:spcBef>
                  <a:spcPts val="10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400" b="0" i="0" kern="12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1pPr>
              <a:lvl2pPr marL="685800" indent="-228600" algn="l" defTabSz="914400" rtl="0" eaLnBrk="1" latinLnBrk="0" hangingPunct="1">
                <a:lnSpc>
                  <a:spcPct val="13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2000" b="0" i="0" kern="12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2pPr>
              <a:lvl3pPr marL="1143000" indent="-228600" algn="l" defTabSz="914400" rtl="0" eaLnBrk="1" latinLnBrk="0" hangingPunct="1">
                <a:lnSpc>
                  <a:spcPct val="13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3pPr>
              <a:lvl4pPr marL="1600200" indent="-228600" algn="l" defTabSz="914400" rtl="0" eaLnBrk="1" latinLnBrk="0" hangingPunct="1">
                <a:lnSpc>
                  <a:spcPct val="13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4pPr>
              <a:lvl5pPr marL="2057400" indent="-228600" algn="l" defTabSz="914400" rtl="0" eaLnBrk="1" latinLnBrk="0" hangingPunct="1">
                <a:lnSpc>
                  <a:spcPct val="130000"/>
                </a:lnSpc>
                <a:spcBef>
                  <a:spcPts val="5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800" b="0" i="0" kern="12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50000"/>
                </a:lnSpc>
                <a:buNone/>
              </a:pPr>
              <a:r>
                <a:rPr lang="en-US" altLang="ko-KR" sz="2800" dirty="0">
                  <a:latin typeface="Trebuchet MS" panose="020B0703020202090204" pitchFamily="34" charset="0"/>
                </a:rPr>
                <a:t>Ref-</a:t>
              </a:r>
              <a:r>
                <a:rPr lang="en-US" altLang="ko-KR" sz="2800" dirty="0" err="1">
                  <a:latin typeface="Trebuchet MS" panose="020B0703020202090204" pitchFamily="34" charset="0"/>
                </a:rPr>
                <a:t>GeNVS</a:t>
              </a:r>
              <a:r>
                <a:rPr lang="en-US" altLang="ko-KR" sz="2800" dirty="0">
                  <a:latin typeface="Trebuchet MS" panose="020B0703020202090204" pitchFamily="34" charset="0"/>
                </a:rPr>
                <a:t> generates </a:t>
              </a:r>
              <a:r>
                <a:rPr lang="en-US" altLang="ko-KR" sz="2800" dirty="0">
                  <a:solidFill>
                    <a:schemeClr val="accent6">
                      <a:lumMod val="75000"/>
                    </a:schemeClr>
                  </a:solidFill>
                  <a:latin typeface="Trebuchet MS" panose="020B0703020202090204" pitchFamily="34" charset="0"/>
                </a:rPr>
                <a:t>reflection-consistent</a:t>
              </a:r>
              <a:r>
                <a:rPr lang="en-US" altLang="ko-KR" sz="2800" dirty="0">
                  <a:latin typeface="Trebuchet MS" panose="020B0703020202090204" pitchFamily="34" charset="0"/>
                </a:rPr>
                <a:t> novel view images!</a:t>
              </a:r>
            </a:p>
            <a:p>
              <a:pPr>
                <a:lnSpc>
                  <a:spcPct val="150000"/>
                </a:lnSpc>
              </a:pPr>
              <a:r>
                <a:rPr lang="en-US" altLang="ko-KR" i="1" dirty="0">
                  <a:latin typeface="Trebuchet MS" panose="020B0703020202090204" pitchFamily="34" charset="0"/>
                </a:rPr>
                <a:t>The first </a:t>
              </a:r>
              <a:r>
                <a:rPr lang="en-US" altLang="ko-KR" dirty="0">
                  <a:latin typeface="Trebuchet MS" panose="020B0703020202090204" pitchFamily="34" charset="0"/>
                </a:rPr>
                <a:t>reflection-aware method for generative novel view synthesis</a:t>
              </a:r>
            </a:p>
            <a:p>
              <a:endParaRPr lang="en-US" altLang="ko-KR" sz="2800" dirty="0">
                <a:latin typeface="Trebuchet MS" panose="020B0703020202090204" pitchFamily="34" charset="0"/>
              </a:endParaRPr>
            </a:p>
            <a:p>
              <a:endParaRPr lang="en-US" altLang="ko-KR" sz="2800" dirty="0">
                <a:latin typeface="Trebuchet MS" panose="020B0703020202090204" pitchFamily="34" charset="0"/>
              </a:endParaRPr>
            </a:p>
            <a:p>
              <a:pPr marL="0" indent="0">
                <a:buNone/>
              </a:pPr>
              <a:endParaRPr lang="en-US" altLang="ko-KR" sz="2800" dirty="0">
                <a:latin typeface="Trebuchet MS" panose="020B0703020202090204" pitchFamily="34" charset="0"/>
              </a:endParaRPr>
            </a:p>
            <a:p>
              <a:pPr marL="0" indent="0">
                <a:buNone/>
              </a:pPr>
              <a:endParaRPr lang="en-US" altLang="ko-KR" sz="2800" dirty="0">
                <a:latin typeface="Trebuchet MS" panose="020B0703020202090204" pitchFamily="34" charset="0"/>
              </a:endParaRPr>
            </a:p>
            <a:p>
              <a:pPr lvl="1">
                <a:buFont typeface="Wingdings" pitchFamily="2" charset="2"/>
                <a:buChar char="è"/>
              </a:pPr>
              <a:endParaRPr lang="en-US" altLang="ko-KR" sz="2400" dirty="0">
                <a:latin typeface="Trebuchet MS" panose="020B0703020202090204" pitchFamily="34" charset="0"/>
              </a:endParaRPr>
            </a:p>
            <a:p>
              <a:pPr lvl="1">
                <a:buFont typeface="Wingdings" pitchFamily="2" charset="2"/>
                <a:buChar char="è"/>
              </a:pPr>
              <a:endParaRPr lang="en-US" altLang="ko-KR" sz="2400" dirty="0">
                <a:latin typeface="Trebuchet MS" panose="020B0703020202090204" pitchFamily="34" charset="0"/>
              </a:endParaRPr>
            </a:p>
            <a:p>
              <a:pPr lvl="1">
                <a:buFont typeface="Wingdings" pitchFamily="2" charset="2"/>
                <a:buChar char="è"/>
              </a:pPr>
              <a:endParaRPr lang="en-US" altLang="ko-KR" sz="2400" dirty="0">
                <a:latin typeface="Trebuchet MS" panose="020B0703020202090204" pitchFamily="34" charset="0"/>
              </a:endParaRPr>
            </a:p>
            <a:p>
              <a:pPr marL="457200" lvl="1" indent="0">
                <a:buNone/>
              </a:pPr>
              <a:endParaRPr lang="en-US" altLang="ko-KR" sz="2400" dirty="0">
                <a:latin typeface="Trebuchet MS" panose="020B0703020202090204" pitchFamily="34" charset="0"/>
              </a:endParaRPr>
            </a:p>
            <a:p>
              <a:endParaRPr lang="ko-KR" altLang="en-US" sz="2800" dirty="0">
                <a:latin typeface="Trebuchet MS" panose="020B0703020202090204" pitchFamily="34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F89E16EC-0A56-1F9E-AC8E-5EFD3827414E}"/>
                </a:ext>
              </a:extLst>
            </p:cNvPr>
            <p:cNvSpPr txBox="1"/>
            <p:nvPr/>
          </p:nvSpPr>
          <p:spPr>
            <a:xfrm>
              <a:off x="180622" y="5812336"/>
              <a:ext cx="1183075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2400" dirty="0">
                  <a:latin typeface="Trebuchet MS" panose="020B0703020202090204" pitchFamily="34" charset="0"/>
                </a:rPr>
                <a:t>by using mirror reflections as </a:t>
              </a:r>
              <a:r>
                <a:rPr lang="en-US" altLang="ko-KR" sz="2400" dirty="0">
                  <a:solidFill>
                    <a:schemeClr val="accent6">
                      <a:lumMod val="75000"/>
                    </a:schemeClr>
                  </a:solidFill>
                  <a:latin typeface="Trebuchet MS" panose="020B0703020202090204" pitchFamily="34" charset="0"/>
                </a:rPr>
                <a:t>auxiliary cues </a:t>
              </a:r>
              <a:r>
                <a:rPr lang="en-US" altLang="ko-KR" sz="2400" dirty="0">
                  <a:latin typeface="Trebuchet MS" panose="020B0703020202090204" pitchFamily="34" charset="0"/>
                </a:rPr>
                <a:t>for novel view generation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6B1E45F-00EE-8635-6361-3EB2DB326C7D}"/>
              </a:ext>
            </a:extLst>
          </p:cNvPr>
          <p:cNvSpPr txBox="1"/>
          <p:nvPr/>
        </p:nvSpPr>
        <p:spPr>
          <a:xfrm>
            <a:off x="89882" y="5229425"/>
            <a:ext cx="330807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altLang="ko-KR" sz="2000" dirty="0">
                <a:latin typeface="Calibri" panose="020F0502020204030204" pitchFamily="34" charset="0"/>
                <a:cs typeface="Calibri" panose="020F0502020204030204" pitchFamily="34" charset="0"/>
              </a:rPr>
              <a:t>Input image &amp; camera pose</a:t>
            </a:r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E636C8B-1B69-0E40-BA5C-A0CF26CC15D4}"/>
              </a:ext>
            </a:extLst>
          </p:cNvPr>
          <p:cNvGrpSpPr/>
          <p:nvPr/>
        </p:nvGrpSpPr>
        <p:grpSpPr>
          <a:xfrm>
            <a:off x="4082988" y="1892374"/>
            <a:ext cx="7806147" cy="3404713"/>
            <a:chOff x="4082988" y="1892374"/>
            <a:chExt cx="7806147" cy="3404713"/>
          </a:xfrm>
        </p:grpSpPr>
        <p:pic>
          <p:nvPicPr>
            <p:cNvPr id="9" name="그림 8" descr="벽, 실내, 사진 액자, 인테리어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7299522-D666-A209-1C38-11B9C2B8D696}"/>
                </a:ext>
              </a:extLst>
            </p:cNvPr>
            <p:cNvPicPr>
              <a:picLocks/>
            </p:cNvPicPr>
            <p:nvPr/>
          </p:nvPicPr>
          <p:blipFill>
            <a:blip r:embed="rId7"/>
            <a:stretch>
              <a:fillRect/>
            </a:stretch>
          </p:blipFill>
          <p:spPr>
            <a:xfrm flipH="1">
              <a:off x="9076099" y="2382961"/>
              <a:ext cx="2473613" cy="2442707"/>
            </a:xfrm>
            <a:prstGeom prst="rect">
              <a:avLst/>
            </a:prstGeom>
          </p:spPr>
        </p:pic>
        <p:pic>
          <p:nvPicPr>
            <p:cNvPr id="10" name="그림 9" descr="실내, 창문, 벽, 꽃병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63BBFF6-129A-225B-E601-F58C5E4C077D}"/>
                </a:ext>
              </a:extLst>
            </p:cNvPr>
            <p:cNvPicPr>
              <a:picLocks/>
            </p:cNvPicPr>
            <p:nvPr/>
          </p:nvPicPr>
          <p:blipFill>
            <a:blip r:embed="rId8"/>
            <a:stretch>
              <a:fillRect/>
            </a:stretch>
          </p:blipFill>
          <p:spPr>
            <a:xfrm flipH="1">
              <a:off x="4110427" y="2382961"/>
              <a:ext cx="2453890" cy="2442706"/>
            </a:xfrm>
            <a:prstGeom prst="rect">
              <a:avLst/>
            </a:prstGeom>
          </p:spPr>
        </p:pic>
        <p:pic>
          <p:nvPicPr>
            <p:cNvPr id="11" name="그림 10" descr="실내, 벽, 사진 액자, 가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846F526-2121-AB83-B4AD-8EE1B44C0AF3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 flipH="1">
              <a:off x="6603613" y="2382961"/>
              <a:ext cx="2423656" cy="2442707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A3DFD76-9A16-D81B-133B-95044332C755}"/>
                </a:ext>
              </a:extLst>
            </p:cNvPr>
            <p:cNvSpPr txBox="1"/>
            <p:nvPr/>
          </p:nvSpPr>
          <p:spPr>
            <a:xfrm rot="5400000">
              <a:off x="10035043" y="3346356"/>
              <a:ext cx="330807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 algn="ctr">
                <a:buNone/>
              </a:pPr>
              <a:r>
                <a:rPr lang="en-US" altLang="ko-KR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Ours</a:t>
              </a: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92ECD75-7E0B-551C-C8B5-E42E97585351}"/>
                </a:ext>
              </a:extLst>
            </p:cNvPr>
            <p:cNvGrpSpPr/>
            <p:nvPr/>
          </p:nvGrpSpPr>
          <p:grpSpPr>
            <a:xfrm>
              <a:off x="4082988" y="4896977"/>
              <a:ext cx="7447322" cy="400110"/>
              <a:chOff x="4082988" y="4896977"/>
              <a:chExt cx="7447322" cy="400110"/>
            </a:xfrm>
          </p:grpSpPr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9AD7EE94-7593-5769-53EC-91454C017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82988" y="4910594"/>
                <a:ext cx="7447322" cy="0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FF2D6CE-0CB4-1A93-0573-F27373E60A5D}"/>
                  </a:ext>
                </a:extLst>
              </p:cNvPr>
              <p:cNvSpPr txBox="1"/>
              <p:nvPr/>
            </p:nvSpPr>
            <p:spPr>
              <a:xfrm>
                <a:off x="6152612" y="4896977"/>
                <a:ext cx="33080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 algn="ctr">
                  <a:buNone/>
                </a:pPr>
                <a:r>
                  <a:rPr lang="en-US" altLang="ko-KR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Generated images</a:t>
                </a:r>
              </a:p>
            </p:txBody>
          </p:sp>
        </p:grp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656B48D8-9F99-970F-64AA-7B6BC439B1AE}"/>
              </a:ext>
            </a:extLst>
          </p:cNvPr>
          <p:cNvGrpSpPr/>
          <p:nvPr/>
        </p:nvGrpSpPr>
        <p:grpSpPr>
          <a:xfrm>
            <a:off x="1329615" y="2382769"/>
            <a:ext cx="8600769" cy="2397549"/>
            <a:chOff x="1329615" y="2382769"/>
            <a:chExt cx="8600769" cy="2397549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9B6FFA5E-655F-4272-0838-1B42FAD51970}"/>
                </a:ext>
              </a:extLst>
            </p:cNvPr>
            <p:cNvSpPr/>
            <p:nvPr/>
          </p:nvSpPr>
          <p:spPr>
            <a:xfrm>
              <a:off x="1329615" y="2382769"/>
              <a:ext cx="815274" cy="1806812"/>
            </a:xfrm>
            <a:prstGeom prst="rect">
              <a:avLst/>
            </a:prstGeom>
            <a:noFill/>
            <a:ln w="38100">
              <a:solidFill>
                <a:srgbClr val="00FF0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>
                <a:solidFill>
                  <a:srgbClr val="00FF0F"/>
                </a:solidFill>
              </a:endParaRPr>
            </a:p>
          </p:txBody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2E90309B-81CC-9D27-549D-A8B512AD8F76}"/>
                </a:ext>
              </a:extLst>
            </p:cNvPr>
            <p:cNvSpPr/>
            <p:nvPr/>
          </p:nvSpPr>
          <p:spPr>
            <a:xfrm>
              <a:off x="6622309" y="2438399"/>
              <a:ext cx="3308075" cy="2341919"/>
            </a:xfrm>
            <a:prstGeom prst="rect">
              <a:avLst/>
            </a:prstGeom>
            <a:noFill/>
            <a:ln w="38100">
              <a:solidFill>
                <a:srgbClr val="00FF0F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2400">
                <a:solidFill>
                  <a:srgbClr val="00FF0F"/>
                </a:solidFill>
              </a:endParaRPr>
            </a:p>
          </p:txBody>
        </p:sp>
      </p:grpSp>
      <p:pic>
        <p:nvPicPr>
          <p:cNvPr id="42" name="오디오 41">
            <a:extLst>
              <a:ext uri="{FF2B5EF4-FFF2-40B4-BE49-F238E27FC236}">
                <a16:creationId xmlns:a16="http://schemas.microsoft.com/office/drawing/2014/main" id="{CE439911-FEB2-BB3B-7903-B3764A9288F0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1732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 advTm="13464">
        <p:fade/>
      </p:transition>
    </mc:Choice>
    <mc:Fallback>
      <p:transition spd="med" advTm="13464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1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4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2.9"/>
</p:tagLst>
</file>

<file path=ppt/theme/theme1.xml><?xml version="1.0" encoding="utf-8"?>
<a:theme xmlns:a="http://schemas.openxmlformats.org/drawingml/2006/main" name="헬레나">
  <a:themeElements>
    <a:clrScheme name="헬레나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211</TotalTime>
  <Words>198</Words>
  <Application>Microsoft Macintosh PowerPoint</Application>
  <PresentationFormat>와이드스크린</PresentationFormat>
  <Paragraphs>70</Paragraphs>
  <Slides>5</Slides>
  <Notes>5</Notes>
  <HiddenSlides>0</HiddenSlides>
  <MMClips>7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6" baseType="lpstr">
      <vt:lpstr>맑은 고딕</vt:lpstr>
      <vt:lpstr>NanumSquare Bold</vt:lpstr>
      <vt:lpstr>Arial</vt:lpstr>
      <vt:lpstr>Calibri</vt:lpstr>
      <vt:lpstr>Chalkboard SE</vt:lpstr>
      <vt:lpstr>NanumSquare</vt:lpstr>
      <vt:lpstr>Neue Haas Grotesk Text Pro</vt:lpstr>
      <vt:lpstr>Pretendard</vt:lpstr>
      <vt:lpstr>Trebuchet MS</vt:lpstr>
      <vt:lpstr>Wingdings</vt:lpstr>
      <vt:lpstr>헬레나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김건우(인공지능대학원)</dc:creator>
  <cp:lastModifiedBy>김건우(인공지능대학원)</cp:lastModifiedBy>
  <cp:revision>4</cp:revision>
  <dcterms:created xsi:type="dcterms:W3CDTF">2026-09-04T13:07:48Z</dcterms:created>
  <dcterms:modified xsi:type="dcterms:W3CDTF">2026-09-04T16:39:46Z</dcterms:modified>
</cp:coreProperties>
</file>